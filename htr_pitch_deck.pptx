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 want to show you a project that sits at the intersection of AI, history, and real-world impact — and pitch it to you as a senior capstone worth your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The overwhelming majority of historical documents have never been digitized in any useful way. A computer can't search a handwritten letter. It can't run statistics on a 19th-century ledger. Historians who want to study these materials either read them by hand — slowly — or just don't. This project is about fixing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just about efficiency. When you make handwritten documents machine-readable, you open up entire new research questions. Who was trading with whom in 1780? What diseases were spreading through a village in 1850? Whose names keep appearing in court records? These are questions that can now be answered computationally — but only if someone builds the tools.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OCR — the technology that reads printed text on your phone — falls apart here. Historical handwriting is messy, degraded, inconsistent, and often in languages that AI hasn't been trained on well. The field has been working on this for years, and the state of the art is still far from solved.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like Transkribus have been around for a while and they work — but they require a lot of setup and don't leverage the latest AI. Meanwhile, frontier language models like GPT-4 and Claude are surprisingly good at reading handwriting from images, but they're not designed for this. Nobody has built the glue layer — a smart pipeline that lets you combine these, evaluate them, and improve over time. That's what this project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vision at a high level. You upload a manuscript image. The system picks the best model for the job — or lets you compare several. It returns a transcription, and critically, it tells you where it's uncertain. A human editor can correct those spots. And those corrections feed back in as training examples for the next run. The system gets smarter as it's 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break down the components. This is a system with distinct modules — great for a team project, because different people can own different pieces. You've got an ML component, a backend, a frontend, and an evaluation framework all wrapped into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flag some of the genuinely interesting CS problems in here, because this isn't just glue code. Figuring out how to prompt a language model to not hallucinate archaic characters is a research problem. Building a heat map that shows character-level confidence requires working with model logits or sampling strategies. Designing a feedback loop that improves few-shot performance over time is a systems design challenge. There's real depth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is actually pretty interesting here. Specialized models like Transkribus are great when you have a lot of data to train on. But recent papers show that a well-prompted LLM — given just two example transcriptions — can outperform purpose-built OCR systems on handwritten records. The tradeoff is cost and consistency. Your system would let researchers make that tradeoff intelligently based on their needs.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reason this works well as a capstone is that it naturally breaks into parallel workstreams. You could have a team focused on the ML pipeline and model integration, another building the web interface and heat map visualization, and another designing the evaluation and benchmarking framework. These are loosely coupled — you can make real progress independently and then integrate.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project is already meaty. But if your team is ambitious, there's a clear path to something publication-worthy. Fine-tuning a small open-source model on a domain-specific corpus, or demonstrating improved accuracy on non-English documents, would be a genuine research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terms of what you'd actually use: the dataset layer is covered — there are open benchmark datasets for historical handwriting. The model layer is a mix of API calls to frontier models and optional local open-source models. The rest is a fairly standard web stack. Python backend, web frontend. Nothing exotic — but the integration is genuinely interesting.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leave you with this. The individual pieces — the models, the datasets, the evaluation metrics — they're all out there. The research community has been documenting exactly what works and what doesn't. What doesn't exist yet is a coherent, usable system that ties them together. That's the gap this project fills. And it's exactly the kind of thing a motivated senior team can build.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toy project. Historians actually need this. If you build it well, it will be used. You'll have hands-on experience with multimodal AI, evaluation methodology, and system design — and a project you can actually talk about in interviews. The interdisciplinary angle is a plus too.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pitch. I'm happy to go deeper on any piece of this — the technical components, the research background, or how teams might be structured. What questions do you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D1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0"/>
          </a:xfrm>
          <a:prstGeom prst="rect">
            <a:avLst/>
          </a:prstGeom>
          <a:solidFill>
            <a:srgbClr val="121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881360" cy="1463040"/>
          </a:xfrm>
          <a:prstGeom prst="rect">
            <a:avLst/>
          </a:prstGeom>
          <a:noFill/>
        </p:spPr>
        <p:txBody>
          <a:bodyPr wrap="square">
            <a:spAutoFit/>
          </a:bodyPr>
          <a:lstStyle/>
          <a:p>
            <a:pPr algn="l"/>
            <a:r>
              <a:rPr sz="6200" b="1" i="0">
                <a:solidFill>
                  <a:srgbClr val="E8A830"/>
                </a:solidFill>
              </a:rPr>
              <a:t>Decoding the Past</a:t>
            </a:r>
          </a:p>
        </p:txBody>
      </p:sp>
      <p:sp>
        <p:nvSpPr>
          <p:cNvPr id="5" name="TextBox 4"/>
          <p:cNvSpPr txBox="1"/>
          <p:nvPr/>
        </p:nvSpPr>
        <p:spPr>
          <a:xfrm>
            <a:off x="640080" y="3200400"/>
            <a:ext cx="10058400" cy="914400"/>
          </a:xfrm>
          <a:prstGeom prst="rect">
            <a:avLst/>
          </a:prstGeom>
          <a:noFill/>
        </p:spPr>
        <p:txBody>
          <a:bodyPr wrap="square">
            <a:spAutoFit/>
          </a:bodyPr>
          <a:lstStyle/>
          <a:p>
            <a:pPr algn="l"/>
            <a:r>
              <a:rPr sz="2700" b="0" i="0">
                <a:solidFill>
                  <a:srgbClr val="FFFFFF"/>
                </a:solidFill>
              </a:rPr>
              <a:t>Building an AI-Powered Handwriting Transcription System</a:t>
            </a:r>
          </a:p>
        </p:txBody>
      </p:sp>
      <p:sp>
        <p:nvSpPr>
          <p:cNvPr id="6" name="Rectangle 5"/>
          <p:cNvSpPr/>
          <p:nvPr/>
        </p:nvSpPr>
        <p:spPr>
          <a:xfrm>
            <a:off x="640080" y="4251960"/>
            <a:ext cx="3657600" cy="45720"/>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434840"/>
            <a:ext cx="7315200" cy="457200"/>
          </a:xfrm>
          <a:prstGeom prst="rect">
            <a:avLst/>
          </a:prstGeom>
          <a:noFill/>
        </p:spPr>
        <p:txBody>
          <a:bodyPr wrap="square">
            <a:spAutoFit/>
          </a:bodyPr>
          <a:lstStyle/>
          <a:p>
            <a:pPr algn="l"/>
            <a:r>
              <a:rPr sz="1800" b="0" i="0">
                <a:solidFill>
                  <a:srgbClr val="D4D8E8"/>
                </a:solidFill>
              </a:rPr>
              <a:t>CS Senior Capstone Project Pitch</a:t>
            </a:r>
          </a:p>
        </p:txBody>
      </p:sp>
      <p:sp>
        <p:nvSpPr>
          <p:cNvPr id="8" name="TextBox 7"/>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Millions of documents. Completely unreadable by computers.</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34440"/>
            <a:ext cx="5029200" cy="49377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4754880" cy="411480"/>
          </a:xfrm>
          <a:prstGeom prst="rect">
            <a:avLst/>
          </a:prstGeom>
          <a:noFill/>
        </p:spPr>
        <p:txBody>
          <a:bodyPr wrap="square">
            <a:spAutoFit/>
          </a:bodyPr>
          <a:lstStyle/>
          <a:p>
            <a:pPr algn="l"/>
            <a:r>
              <a:rPr sz="1300" b="0" i="0">
                <a:solidFill>
                  <a:srgbClr val="8A92B8"/>
                </a:solidFill>
              </a:rPr>
              <a:t>Handwritten manuscript</a:t>
            </a:r>
          </a:p>
        </p:txBody>
      </p:sp>
      <p:sp>
        <p:nvSpPr>
          <p:cNvPr id="6" name="TextBox 5"/>
          <p:cNvSpPr txBox="1"/>
          <p:nvPr/>
        </p:nvSpPr>
        <p:spPr>
          <a:xfrm>
            <a:off x="777240" y="1920240"/>
            <a:ext cx="4572000" cy="1371600"/>
          </a:xfrm>
          <a:prstGeom prst="rect">
            <a:avLst/>
          </a:prstGeom>
          <a:noFill/>
        </p:spPr>
        <p:txBody>
          <a:bodyPr wrap="square">
            <a:spAutoFit/>
          </a:bodyPr>
          <a:lstStyle/>
          <a:p>
            <a:pPr algn="l"/>
            <a:r>
              <a:rPr sz="2100" b="0" i="1">
                <a:solidFill>
                  <a:srgbClr val="D4D8E8"/>
                </a:solidFill>
              </a:rPr>
              <a:t>Flowing cursive, faded ink,
unsearchable, unindexed.</a:t>
            </a:r>
          </a:p>
        </p:txBody>
      </p:sp>
      <p:sp>
        <p:nvSpPr>
          <p:cNvPr id="7" name="TextBox 6"/>
          <p:cNvSpPr txBox="1"/>
          <p:nvPr/>
        </p:nvSpPr>
        <p:spPr>
          <a:xfrm>
            <a:off x="777240" y="3474720"/>
            <a:ext cx="4572000" cy="457200"/>
          </a:xfrm>
          <a:prstGeom prst="rect">
            <a:avLst/>
          </a:prstGeom>
          <a:noFill/>
        </p:spPr>
        <p:txBody>
          <a:bodyPr wrap="square">
            <a:spAutoFit/>
          </a:bodyPr>
          <a:lstStyle/>
          <a:p>
            <a:pPr algn="l"/>
            <a:r>
              <a:rPr sz="1300" b="0" i="1">
                <a:solidFill>
                  <a:srgbClr val="8A92B8"/>
                </a:solidFill>
              </a:rPr>
              <a:t>[Insert manuscript image here]</a:t>
            </a:r>
          </a:p>
        </p:txBody>
      </p:sp>
      <p:sp>
        <p:nvSpPr>
          <p:cNvPr id="8" name="TextBox 7"/>
          <p:cNvSpPr txBox="1"/>
          <p:nvPr/>
        </p:nvSpPr>
        <p:spPr>
          <a:xfrm>
            <a:off x="5760720" y="2926080"/>
            <a:ext cx="822960" cy="640080"/>
          </a:xfrm>
          <a:prstGeom prst="rect">
            <a:avLst/>
          </a:prstGeom>
          <a:noFill/>
        </p:spPr>
        <p:txBody>
          <a:bodyPr wrap="square">
            <a:spAutoFit/>
          </a:bodyPr>
          <a:lstStyle/>
          <a:p>
            <a:pPr algn="ctr"/>
            <a:r>
              <a:rPr sz="4800" b="1" i="0">
                <a:solidFill>
                  <a:srgbClr val="E8A830"/>
                </a:solidFill>
              </a:rPr>
              <a:t>→</a:t>
            </a:r>
          </a:p>
        </p:txBody>
      </p:sp>
      <p:sp>
        <p:nvSpPr>
          <p:cNvPr id="9" name="Rectangle 8"/>
          <p:cNvSpPr/>
          <p:nvPr/>
        </p:nvSpPr>
        <p:spPr>
          <a:xfrm>
            <a:off x="6675120" y="1234440"/>
            <a:ext cx="5029200" cy="49377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1325880"/>
            <a:ext cx="4754880" cy="411480"/>
          </a:xfrm>
          <a:prstGeom prst="rect">
            <a:avLst/>
          </a:prstGeom>
          <a:noFill/>
        </p:spPr>
        <p:txBody>
          <a:bodyPr wrap="square">
            <a:spAutoFit/>
          </a:bodyPr>
          <a:lstStyle/>
          <a:p>
            <a:pPr algn="l"/>
            <a:r>
              <a:rPr sz="1300" b="0" i="0">
                <a:solidFill>
                  <a:srgbClr val="8A92B8"/>
                </a:solidFill>
              </a:rPr>
              <a:t>Machine-readable text</a:t>
            </a:r>
          </a:p>
        </p:txBody>
      </p:sp>
      <p:sp>
        <p:nvSpPr>
          <p:cNvPr id="11" name="TextBox 10"/>
          <p:cNvSpPr txBox="1"/>
          <p:nvPr/>
        </p:nvSpPr>
        <p:spPr>
          <a:xfrm>
            <a:off x="6858000" y="1874519"/>
            <a:ext cx="4572000" cy="3840480"/>
          </a:xfrm>
          <a:prstGeom prst="rect">
            <a:avLst/>
          </a:prstGeom>
          <a:noFill/>
        </p:spPr>
        <p:txBody>
          <a:bodyPr wrap="square">
            <a:spAutoFit/>
          </a:bodyPr>
          <a:lstStyle/>
          <a:p>
            <a:pPr algn="l">
              <a:spcAft>
                <a:spcPts val="600"/>
              </a:spcAft>
            </a:pPr>
            <a:r>
              <a:rPr sz="1700">
                <a:solidFill>
                  <a:srgbClr val="FFFFFF"/>
                </a:solidFill>
              </a:rPr>
              <a:t>Dear Sir,</a:t>
            </a:r>
          </a:p>
          <a:p>
            <a:pPr algn="l">
              <a:spcAft>
                <a:spcPts val="600"/>
              </a:spcAft>
            </a:pPr>
            <a:r>
              <a:rPr sz="1700">
                <a:solidFill>
                  <a:srgbClr val="FFFFFF"/>
                </a:solidFill>
              </a:rPr>
              <a:t/>
            </a:r>
          </a:p>
          <a:p>
            <a:pPr algn="l">
              <a:spcAft>
                <a:spcPts val="600"/>
              </a:spcAft>
            </a:pPr>
            <a:r>
              <a:rPr sz="1700">
                <a:solidFill>
                  <a:srgbClr val="FFFFFF"/>
                </a:solidFill>
              </a:rPr>
              <a:t>I write to you from Philadelphia,</a:t>
            </a:r>
          </a:p>
          <a:p>
            <a:pPr algn="l">
              <a:spcAft>
                <a:spcPts val="600"/>
              </a:spcAft>
            </a:pPr>
            <a:r>
              <a:rPr sz="1700">
                <a:solidFill>
                  <a:srgbClr val="FFFFFF"/>
                </a:solidFill>
              </a:rPr>
              <a:t>having arrived on the 14th inst.</a:t>
            </a:r>
          </a:p>
          <a:p>
            <a:pPr algn="l">
              <a:spcAft>
                <a:spcPts val="600"/>
              </a:spcAft>
            </a:pPr>
            <a:r>
              <a:rPr sz="1700">
                <a:solidFill>
                  <a:srgbClr val="FFFFFF"/>
                </a:solidFill>
              </a:rPr>
              <a:t>The weather has been most foul...</a:t>
            </a:r>
          </a:p>
          <a:p>
            <a:pPr algn="l">
              <a:spcAft>
                <a:spcPts val="600"/>
              </a:spcAft>
            </a:pPr>
            <a:r>
              <a:rPr sz="1700">
                <a:solidFill>
                  <a:srgbClr val="FFFFFF"/>
                </a:solidFill>
              </a:rPr>
              <a:t/>
            </a:r>
          </a:p>
          <a:p>
            <a:pPr algn="l">
              <a:spcAft>
                <a:spcPts val="600"/>
              </a:spcAft>
            </a:pPr>
            <a:r>
              <a:rPr sz="1700">
                <a:solidFill>
                  <a:srgbClr val="FFFFFF"/>
                </a:solidFill>
              </a:rPr>
              <a:t>— searchable, analyzable, usable</a:t>
            </a:r>
          </a:p>
        </p:txBody>
      </p:sp>
      <p:sp>
        <p:nvSpPr>
          <p:cNvPr id="12" name="TextBox 11"/>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History from the ground up</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325880"/>
            <a:ext cx="3611880" cy="484632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08760"/>
            <a:ext cx="914400" cy="731520"/>
          </a:xfrm>
          <a:prstGeom prst="rect">
            <a:avLst/>
          </a:prstGeom>
          <a:noFill/>
        </p:spPr>
        <p:txBody>
          <a:bodyPr wrap="square">
            <a:spAutoFit/>
          </a:bodyPr>
          <a:lstStyle/>
          <a:p>
            <a:pPr algn="l"/>
            <a:r>
              <a:rPr sz="3600" b="0" i="0">
                <a:solidFill>
                  <a:srgbClr val="FFFFFF"/>
                </a:solidFill>
              </a:rPr>
              <a:t>📊</a:t>
            </a:r>
          </a:p>
        </p:txBody>
      </p:sp>
      <p:sp>
        <p:nvSpPr>
          <p:cNvPr id="6" name="TextBox 5"/>
          <p:cNvSpPr txBox="1"/>
          <p:nvPr/>
        </p:nvSpPr>
        <p:spPr>
          <a:xfrm>
            <a:off x="731520" y="2377440"/>
            <a:ext cx="3200400" cy="777240"/>
          </a:xfrm>
          <a:prstGeom prst="rect">
            <a:avLst/>
          </a:prstGeom>
          <a:noFill/>
        </p:spPr>
        <p:txBody>
          <a:bodyPr wrap="square">
            <a:spAutoFit/>
          </a:bodyPr>
          <a:lstStyle/>
          <a:p>
            <a:pPr algn="l"/>
            <a:r>
              <a:rPr sz="2100" b="1" i="0">
                <a:solidFill>
                  <a:srgbClr val="E8A830"/>
                </a:solidFill>
              </a:rPr>
              <a:t>Distant Reading
at Scale</a:t>
            </a:r>
          </a:p>
        </p:txBody>
      </p:sp>
      <p:sp>
        <p:nvSpPr>
          <p:cNvPr id="7" name="TextBox 6"/>
          <p:cNvSpPr txBox="1"/>
          <p:nvPr/>
        </p:nvSpPr>
        <p:spPr>
          <a:xfrm>
            <a:off x="731520" y="3246120"/>
            <a:ext cx="3200400" cy="2377440"/>
          </a:xfrm>
          <a:prstGeom prst="rect">
            <a:avLst/>
          </a:prstGeom>
          <a:noFill/>
        </p:spPr>
        <p:txBody>
          <a:bodyPr wrap="square">
            <a:spAutoFit/>
          </a:bodyPr>
          <a:lstStyle/>
          <a:p>
            <a:pPr algn="l"/>
            <a:r>
              <a:rPr sz="1700" b="0" i="0">
                <a:solidFill>
                  <a:srgbClr val="D4D8E8"/>
                </a:solidFill>
              </a:rPr>
              <a:t>Run topic modeling and network
analysis across thousands of
documents at once</a:t>
            </a:r>
          </a:p>
        </p:txBody>
      </p:sp>
      <p:sp>
        <p:nvSpPr>
          <p:cNvPr id="8" name="Rectangle 7"/>
          <p:cNvSpPr/>
          <p:nvPr/>
        </p:nvSpPr>
        <p:spPr>
          <a:xfrm>
            <a:off x="4407407" y="1325880"/>
            <a:ext cx="3611880" cy="484632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7" y="1508760"/>
            <a:ext cx="914400" cy="731520"/>
          </a:xfrm>
          <a:prstGeom prst="rect">
            <a:avLst/>
          </a:prstGeom>
          <a:noFill/>
        </p:spPr>
        <p:txBody>
          <a:bodyPr wrap="square">
            <a:spAutoFit/>
          </a:bodyPr>
          <a:lstStyle/>
          <a:p>
            <a:pPr algn="l"/>
            <a:r>
              <a:rPr sz="3600" b="0" i="0">
                <a:solidFill>
                  <a:srgbClr val="FFFFFF"/>
                </a:solidFill>
              </a:rPr>
              <a:t>🕵️</a:t>
            </a:r>
          </a:p>
        </p:txBody>
      </p:sp>
      <p:sp>
        <p:nvSpPr>
          <p:cNvPr id="10" name="TextBox 9"/>
          <p:cNvSpPr txBox="1"/>
          <p:nvPr/>
        </p:nvSpPr>
        <p:spPr>
          <a:xfrm>
            <a:off x="4590287" y="2377440"/>
            <a:ext cx="3200400" cy="777240"/>
          </a:xfrm>
          <a:prstGeom prst="rect">
            <a:avLst/>
          </a:prstGeom>
          <a:noFill/>
        </p:spPr>
        <p:txBody>
          <a:bodyPr wrap="square">
            <a:spAutoFit/>
          </a:bodyPr>
          <a:lstStyle/>
          <a:p>
            <a:pPr algn="l"/>
            <a:r>
              <a:rPr sz="2100" b="1" i="0">
                <a:solidFill>
                  <a:srgbClr val="E8A830"/>
                </a:solidFill>
              </a:rPr>
              <a:t>Follow the
Actors</a:t>
            </a:r>
          </a:p>
        </p:txBody>
      </p:sp>
      <p:sp>
        <p:nvSpPr>
          <p:cNvPr id="11" name="TextBox 10"/>
          <p:cNvSpPr txBox="1"/>
          <p:nvPr/>
        </p:nvSpPr>
        <p:spPr>
          <a:xfrm>
            <a:off x="4590287" y="3246120"/>
            <a:ext cx="3200400" cy="2377440"/>
          </a:xfrm>
          <a:prstGeom prst="rect">
            <a:avLst/>
          </a:prstGeom>
          <a:noFill/>
        </p:spPr>
        <p:txBody>
          <a:bodyPr wrap="square">
            <a:spAutoFit/>
          </a:bodyPr>
          <a:lstStyle/>
          <a:p>
            <a:pPr algn="l"/>
            <a:r>
              <a:rPr sz="1700" b="0" i="0">
                <a:solidFill>
                  <a:srgbClr val="D4D8E8"/>
                </a:solidFill>
              </a:rPr>
              <a:t>Who traded with whom? Who
appears in court records,
and how often?</a:t>
            </a:r>
          </a:p>
        </p:txBody>
      </p:sp>
      <p:sp>
        <p:nvSpPr>
          <p:cNvPr id="12" name="Rectangle 11"/>
          <p:cNvSpPr/>
          <p:nvPr/>
        </p:nvSpPr>
        <p:spPr>
          <a:xfrm>
            <a:off x="8266175" y="1325880"/>
            <a:ext cx="3611880" cy="484632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49055" y="1508760"/>
            <a:ext cx="914400" cy="731520"/>
          </a:xfrm>
          <a:prstGeom prst="rect">
            <a:avLst/>
          </a:prstGeom>
          <a:noFill/>
        </p:spPr>
        <p:txBody>
          <a:bodyPr wrap="square">
            <a:spAutoFit/>
          </a:bodyPr>
          <a:lstStyle/>
          <a:p>
            <a:pPr algn="l"/>
            <a:r>
              <a:rPr sz="3600" b="0" i="0">
                <a:solidFill>
                  <a:srgbClr val="FFFFFF"/>
                </a:solidFill>
              </a:rPr>
              <a:t>🗣️</a:t>
            </a:r>
          </a:p>
        </p:txBody>
      </p:sp>
      <p:sp>
        <p:nvSpPr>
          <p:cNvPr id="14" name="TextBox 13"/>
          <p:cNvSpPr txBox="1"/>
          <p:nvPr/>
        </p:nvSpPr>
        <p:spPr>
          <a:xfrm>
            <a:off x="8449055" y="2377440"/>
            <a:ext cx="3200400" cy="777240"/>
          </a:xfrm>
          <a:prstGeom prst="rect">
            <a:avLst/>
          </a:prstGeom>
          <a:noFill/>
        </p:spPr>
        <p:txBody>
          <a:bodyPr wrap="square">
            <a:spAutoFit/>
          </a:bodyPr>
          <a:lstStyle/>
          <a:p>
            <a:pPr algn="l"/>
            <a:r>
              <a:rPr sz="2100" b="1" i="0">
                <a:solidFill>
                  <a:srgbClr val="E8A830"/>
                </a:solidFill>
              </a:rPr>
              <a:t>Amplify Unheard
Voices</a:t>
            </a:r>
          </a:p>
        </p:txBody>
      </p:sp>
      <p:sp>
        <p:nvSpPr>
          <p:cNvPr id="15" name="TextBox 14"/>
          <p:cNvSpPr txBox="1"/>
          <p:nvPr/>
        </p:nvSpPr>
        <p:spPr>
          <a:xfrm>
            <a:off x="8449055" y="3246120"/>
            <a:ext cx="3200400" cy="2377440"/>
          </a:xfrm>
          <a:prstGeom prst="rect">
            <a:avLst/>
          </a:prstGeom>
          <a:noFill/>
        </p:spPr>
        <p:txBody>
          <a:bodyPr wrap="square">
            <a:spAutoFit/>
          </a:bodyPr>
          <a:lstStyle/>
          <a:p>
            <a:pPr algn="l"/>
            <a:r>
              <a:rPr sz="1700" b="0" i="0">
                <a:solidFill>
                  <a:srgbClr val="D4D8E8"/>
                </a:solidFill>
              </a:rPr>
              <a:t>Make underrepresented
communities visible in
the historical record</a:t>
            </a:r>
          </a:p>
        </p:txBody>
      </p:sp>
      <p:sp>
        <p:nvSpPr>
          <p:cNvPr id="16" name="TextBox 15"/>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This is harder than it looks</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8448"/>
            <a:ext cx="11064240" cy="109728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99616"/>
            <a:ext cx="594360" cy="640080"/>
          </a:xfrm>
          <a:prstGeom prst="rect">
            <a:avLst/>
          </a:prstGeom>
          <a:noFill/>
        </p:spPr>
        <p:txBody>
          <a:bodyPr wrap="square">
            <a:spAutoFit/>
          </a:bodyPr>
          <a:lstStyle/>
          <a:p>
            <a:pPr algn="l"/>
            <a:r>
              <a:rPr sz="2600" b="0" i="0">
                <a:solidFill>
                  <a:srgbClr val="FFFFFF"/>
                </a:solidFill>
              </a:rPr>
              <a:t>💧</a:t>
            </a:r>
          </a:p>
        </p:txBody>
      </p:sp>
      <p:sp>
        <p:nvSpPr>
          <p:cNvPr id="6" name="TextBox 5"/>
          <p:cNvSpPr txBox="1"/>
          <p:nvPr/>
        </p:nvSpPr>
        <p:spPr>
          <a:xfrm>
            <a:off x="1508760" y="1389888"/>
            <a:ext cx="3657600" cy="457200"/>
          </a:xfrm>
          <a:prstGeom prst="rect">
            <a:avLst/>
          </a:prstGeom>
          <a:noFill/>
        </p:spPr>
        <p:txBody>
          <a:bodyPr wrap="square">
            <a:spAutoFit/>
          </a:bodyPr>
          <a:lstStyle/>
          <a:p>
            <a:pPr algn="l"/>
            <a:r>
              <a:rPr sz="1700" b="1" i="0">
                <a:solidFill>
                  <a:srgbClr val="E8A830"/>
                </a:solidFill>
              </a:rPr>
              <a:t>Faded or damaged paper</a:t>
            </a:r>
          </a:p>
        </p:txBody>
      </p:sp>
      <p:sp>
        <p:nvSpPr>
          <p:cNvPr id="7" name="TextBox 6"/>
          <p:cNvSpPr txBox="1"/>
          <p:nvPr/>
        </p:nvSpPr>
        <p:spPr>
          <a:xfrm>
            <a:off x="1508760" y="1828800"/>
            <a:ext cx="9509760" cy="475488"/>
          </a:xfrm>
          <a:prstGeom prst="rect">
            <a:avLst/>
          </a:prstGeom>
          <a:noFill/>
        </p:spPr>
        <p:txBody>
          <a:bodyPr wrap="square">
            <a:spAutoFit/>
          </a:bodyPr>
          <a:lstStyle/>
          <a:p>
            <a:pPr algn="l"/>
            <a:r>
              <a:rPr sz="1500" b="0" i="0">
                <a:solidFill>
                  <a:srgbClr val="D4D8E8"/>
                </a:solidFill>
              </a:rPr>
              <a:t>Environmental degradation, water stains, and torn pages confuse OCR systems</a:t>
            </a:r>
          </a:p>
        </p:txBody>
      </p:sp>
      <p:sp>
        <p:nvSpPr>
          <p:cNvPr id="8" name="Rectangle 7"/>
          <p:cNvSpPr/>
          <p:nvPr/>
        </p:nvSpPr>
        <p:spPr>
          <a:xfrm>
            <a:off x="548640" y="2560320"/>
            <a:ext cx="11064240" cy="109728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761488"/>
            <a:ext cx="594360" cy="640080"/>
          </a:xfrm>
          <a:prstGeom prst="rect">
            <a:avLst/>
          </a:prstGeom>
          <a:noFill/>
        </p:spPr>
        <p:txBody>
          <a:bodyPr wrap="square">
            <a:spAutoFit/>
          </a:bodyPr>
          <a:lstStyle/>
          <a:p>
            <a:pPr algn="l"/>
            <a:r>
              <a:rPr sz="2600" b="0" i="0">
                <a:solidFill>
                  <a:srgbClr val="FFFFFF"/>
                </a:solidFill>
              </a:rPr>
              <a:t>✂️</a:t>
            </a:r>
          </a:p>
        </p:txBody>
      </p:sp>
      <p:sp>
        <p:nvSpPr>
          <p:cNvPr id="10" name="TextBox 9"/>
          <p:cNvSpPr txBox="1"/>
          <p:nvPr/>
        </p:nvSpPr>
        <p:spPr>
          <a:xfrm>
            <a:off x="1508760" y="2651760"/>
            <a:ext cx="3657600" cy="457200"/>
          </a:xfrm>
          <a:prstGeom prst="rect">
            <a:avLst/>
          </a:prstGeom>
          <a:noFill/>
        </p:spPr>
        <p:txBody>
          <a:bodyPr wrap="square">
            <a:spAutoFit/>
          </a:bodyPr>
          <a:lstStyle/>
          <a:p>
            <a:pPr algn="l"/>
            <a:r>
              <a:rPr sz="1700" b="1" i="0">
                <a:solidFill>
                  <a:srgbClr val="E8A830"/>
                </a:solidFill>
              </a:rPr>
              <a:t>Abbreviations &amp; non-standard spelling</a:t>
            </a:r>
          </a:p>
        </p:txBody>
      </p:sp>
      <p:sp>
        <p:nvSpPr>
          <p:cNvPr id="11" name="TextBox 10"/>
          <p:cNvSpPr txBox="1"/>
          <p:nvPr/>
        </p:nvSpPr>
        <p:spPr>
          <a:xfrm>
            <a:off x="1508760" y="3090672"/>
            <a:ext cx="9509760" cy="475488"/>
          </a:xfrm>
          <a:prstGeom prst="rect">
            <a:avLst/>
          </a:prstGeom>
          <a:noFill/>
        </p:spPr>
        <p:txBody>
          <a:bodyPr wrap="square">
            <a:spAutoFit/>
          </a:bodyPr>
          <a:lstStyle/>
          <a:p>
            <a:pPr algn="l"/>
            <a:r>
              <a:rPr sz="1500" b="0" i="0">
                <a:solidFill>
                  <a:srgbClr val="D4D8E8"/>
                </a:solidFill>
              </a:rPr>
              <a:t>Scribes abbreviated freely; consistent spelling didn't exist in many eras</a:t>
            </a:r>
          </a:p>
        </p:txBody>
      </p:sp>
      <p:sp>
        <p:nvSpPr>
          <p:cNvPr id="12" name="Rectangle 11"/>
          <p:cNvSpPr/>
          <p:nvPr/>
        </p:nvSpPr>
        <p:spPr>
          <a:xfrm>
            <a:off x="548640" y="3822191"/>
            <a:ext cx="11064240" cy="109728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023359"/>
            <a:ext cx="594360" cy="640080"/>
          </a:xfrm>
          <a:prstGeom prst="rect">
            <a:avLst/>
          </a:prstGeom>
          <a:noFill/>
        </p:spPr>
        <p:txBody>
          <a:bodyPr wrap="square">
            <a:spAutoFit/>
          </a:bodyPr>
          <a:lstStyle/>
          <a:p>
            <a:pPr algn="l"/>
            <a:r>
              <a:rPr sz="2600" b="0" i="0">
                <a:solidFill>
                  <a:srgbClr val="FFFFFF"/>
                </a:solidFill>
              </a:rPr>
              <a:t>📝</a:t>
            </a:r>
          </a:p>
        </p:txBody>
      </p:sp>
      <p:sp>
        <p:nvSpPr>
          <p:cNvPr id="14" name="TextBox 13"/>
          <p:cNvSpPr txBox="1"/>
          <p:nvPr/>
        </p:nvSpPr>
        <p:spPr>
          <a:xfrm>
            <a:off x="1508760" y="3913631"/>
            <a:ext cx="3657600" cy="457200"/>
          </a:xfrm>
          <a:prstGeom prst="rect">
            <a:avLst/>
          </a:prstGeom>
          <a:noFill/>
        </p:spPr>
        <p:txBody>
          <a:bodyPr wrap="square">
            <a:spAutoFit/>
          </a:bodyPr>
          <a:lstStyle/>
          <a:p>
            <a:pPr algn="l"/>
            <a:r>
              <a:rPr sz="1700" b="1" i="0">
                <a:solidFill>
                  <a:srgbClr val="E8A830"/>
                </a:solidFill>
              </a:rPr>
              <a:t>Marginalia &amp; unusual layouts</a:t>
            </a:r>
          </a:p>
        </p:txBody>
      </p:sp>
      <p:sp>
        <p:nvSpPr>
          <p:cNvPr id="15" name="TextBox 14"/>
          <p:cNvSpPr txBox="1"/>
          <p:nvPr/>
        </p:nvSpPr>
        <p:spPr>
          <a:xfrm>
            <a:off x="1508760" y="4352543"/>
            <a:ext cx="9509760" cy="475488"/>
          </a:xfrm>
          <a:prstGeom prst="rect">
            <a:avLst/>
          </a:prstGeom>
          <a:noFill/>
        </p:spPr>
        <p:txBody>
          <a:bodyPr wrap="square">
            <a:spAutoFit/>
          </a:bodyPr>
          <a:lstStyle/>
          <a:p>
            <a:pPr algn="l"/>
            <a:r>
              <a:rPr sz="1500" b="0" i="0">
                <a:solidFill>
                  <a:srgbClr val="D4D8E8"/>
                </a:solidFill>
              </a:rPr>
              <a:t>Notes in margins, crossed-out words, and non-linear text break standard pipelines</a:t>
            </a:r>
          </a:p>
        </p:txBody>
      </p:sp>
      <p:sp>
        <p:nvSpPr>
          <p:cNvPr id="16" name="Rectangle 15"/>
          <p:cNvSpPr/>
          <p:nvPr/>
        </p:nvSpPr>
        <p:spPr>
          <a:xfrm>
            <a:off x="548640" y="5084064"/>
            <a:ext cx="11064240" cy="109728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285232"/>
            <a:ext cx="594360" cy="640080"/>
          </a:xfrm>
          <a:prstGeom prst="rect">
            <a:avLst/>
          </a:prstGeom>
          <a:noFill/>
        </p:spPr>
        <p:txBody>
          <a:bodyPr wrap="square">
            <a:spAutoFit/>
          </a:bodyPr>
          <a:lstStyle/>
          <a:p>
            <a:pPr algn="l"/>
            <a:r>
              <a:rPr sz="2600" b="0" i="0">
                <a:solidFill>
                  <a:srgbClr val="FFFFFF"/>
                </a:solidFill>
              </a:rPr>
              <a:t>✍️</a:t>
            </a:r>
          </a:p>
        </p:txBody>
      </p:sp>
      <p:sp>
        <p:nvSpPr>
          <p:cNvPr id="18" name="TextBox 17"/>
          <p:cNvSpPr txBox="1"/>
          <p:nvPr/>
        </p:nvSpPr>
        <p:spPr>
          <a:xfrm>
            <a:off x="1508760" y="5175504"/>
            <a:ext cx="3657600" cy="457200"/>
          </a:xfrm>
          <a:prstGeom prst="rect">
            <a:avLst/>
          </a:prstGeom>
          <a:noFill/>
        </p:spPr>
        <p:txBody>
          <a:bodyPr wrap="square">
            <a:spAutoFit/>
          </a:bodyPr>
          <a:lstStyle/>
          <a:p>
            <a:pPr algn="l"/>
            <a:r>
              <a:rPr sz="1700" b="1" i="0">
                <a:solidFill>
                  <a:srgbClr val="E8A830"/>
                </a:solidFill>
              </a:rPr>
              <a:t>Wildly varying handwriting styles</a:t>
            </a:r>
          </a:p>
        </p:txBody>
      </p:sp>
      <p:sp>
        <p:nvSpPr>
          <p:cNvPr id="19" name="TextBox 18"/>
          <p:cNvSpPr txBox="1"/>
          <p:nvPr/>
        </p:nvSpPr>
        <p:spPr>
          <a:xfrm>
            <a:off x="1508760" y="5614416"/>
            <a:ext cx="9509760" cy="475488"/>
          </a:xfrm>
          <a:prstGeom prst="rect">
            <a:avLst/>
          </a:prstGeom>
          <a:noFill/>
        </p:spPr>
        <p:txBody>
          <a:bodyPr wrap="square">
            <a:spAutoFit/>
          </a:bodyPr>
          <a:lstStyle/>
          <a:p>
            <a:pPr algn="l"/>
            <a:r>
              <a:rPr sz="1500" b="0" i="0">
                <a:solidFill>
                  <a:srgbClr val="D4D8E8"/>
                </a:solidFill>
              </a:rPr>
              <a:t>Every writer, era, and language has its own style — models can't assume consistency</a:t>
            </a:r>
          </a:p>
        </p:txBody>
      </p:sp>
      <p:sp>
        <p:nvSpPr>
          <p:cNvPr id="20" name="TextBox 19"/>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There are tools — but no complete solution</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353312"/>
            <a:ext cx="3611880" cy="1719072"/>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90472"/>
            <a:ext cx="3200400" cy="502920"/>
          </a:xfrm>
          <a:prstGeom prst="rect">
            <a:avLst/>
          </a:prstGeom>
          <a:noFill/>
        </p:spPr>
        <p:txBody>
          <a:bodyPr wrap="square">
            <a:spAutoFit/>
          </a:bodyPr>
          <a:lstStyle/>
          <a:p>
            <a:pPr algn="l"/>
            <a:r>
              <a:rPr sz="2000" b="1" i="0">
                <a:solidFill>
                  <a:srgbClr val="E8A830"/>
                </a:solidFill>
              </a:rPr>
              <a:t>Transkribus</a:t>
            </a:r>
          </a:p>
        </p:txBody>
      </p:sp>
      <p:sp>
        <p:nvSpPr>
          <p:cNvPr id="6" name="TextBox 5"/>
          <p:cNvSpPr txBox="1"/>
          <p:nvPr/>
        </p:nvSpPr>
        <p:spPr>
          <a:xfrm>
            <a:off x="731520" y="2011680"/>
            <a:ext cx="3200400" cy="777240"/>
          </a:xfrm>
          <a:prstGeom prst="rect">
            <a:avLst/>
          </a:prstGeom>
          <a:noFill/>
        </p:spPr>
        <p:txBody>
          <a:bodyPr wrap="square">
            <a:spAutoFit/>
          </a:bodyPr>
          <a:lstStyle/>
          <a:p>
            <a:pPr algn="l"/>
            <a:r>
              <a:rPr sz="1500" b="0" i="0">
                <a:solidFill>
                  <a:srgbClr val="D4D8E8"/>
                </a:solidFill>
              </a:rPr>
              <a:t>Specialized HTR platform</a:t>
            </a:r>
          </a:p>
        </p:txBody>
      </p:sp>
      <p:sp>
        <p:nvSpPr>
          <p:cNvPr id="7" name="Rectangle 6"/>
          <p:cNvSpPr/>
          <p:nvPr/>
        </p:nvSpPr>
        <p:spPr>
          <a:xfrm>
            <a:off x="4407407" y="1353312"/>
            <a:ext cx="3611880" cy="1719072"/>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7" y="1490472"/>
            <a:ext cx="3200400" cy="502920"/>
          </a:xfrm>
          <a:prstGeom prst="rect">
            <a:avLst/>
          </a:prstGeom>
          <a:noFill/>
        </p:spPr>
        <p:txBody>
          <a:bodyPr wrap="square">
            <a:spAutoFit/>
          </a:bodyPr>
          <a:lstStyle/>
          <a:p>
            <a:pPr algn="l"/>
            <a:r>
              <a:rPr sz="2000" b="1" i="0">
                <a:solidFill>
                  <a:srgbClr val="E8A830"/>
                </a:solidFill>
              </a:rPr>
              <a:t>eScriptorium</a:t>
            </a:r>
          </a:p>
        </p:txBody>
      </p:sp>
      <p:sp>
        <p:nvSpPr>
          <p:cNvPr id="9" name="TextBox 8"/>
          <p:cNvSpPr txBox="1"/>
          <p:nvPr/>
        </p:nvSpPr>
        <p:spPr>
          <a:xfrm>
            <a:off x="4590287" y="2011680"/>
            <a:ext cx="3200400" cy="777240"/>
          </a:xfrm>
          <a:prstGeom prst="rect">
            <a:avLst/>
          </a:prstGeom>
          <a:noFill/>
        </p:spPr>
        <p:txBody>
          <a:bodyPr wrap="square">
            <a:spAutoFit/>
          </a:bodyPr>
          <a:lstStyle/>
          <a:p>
            <a:pPr algn="l"/>
            <a:r>
              <a:rPr sz="1500" b="0" i="0">
                <a:solidFill>
                  <a:srgbClr val="D4D8E8"/>
                </a:solidFill>
              </a:rPr>
              <a:t>Open-source HTR editor</a:t>
            </a:r>
          </a:p>
        </p:txBody>
      </p:sp>
      <p:sp>
        <p:nvSpPr>
          <p:cNvPr id="10" name="Rectangle 9"/>
          <p:cNvSpPr/>
          <p:nvPr/>
        </p:nvSpPr>
        <p:spPr>
          <a:xfrm>
            <a:off x="8266175" y="1353312"/>
            <a:ext cx="3611880" cy="1719072"/>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49055" y="1490472"/>
            <a:ext cx="3200400" cy="502920"/>
          </a:xfrm>
          <a:prstGeom prst="rect">
            <a:avLst/>
          </a:prstGeom>
          <a:noFill/>
        </p:spPr>
        <p:txBody>
          <a:bodyPr wrap="square">
            <a:spAutoFit/>
          </a:bodyPr>
          <a:lstStyle/>
          <a:p>
            <a:pPr algn="l"/>
            <a:r>
              <a:rPr sz="2000" b="1" i="0">
                <a:solidFill>
                  <a:srgbClr val="E8A830"/>
                </a:solidFill>
              </a:rPr>
              <a:t>Tesseract</a:t>
            </a:r>
          </a:p>
        </p:txBody>
      </p:sp>
      <p:sp>
        <p:nvSpPr>
          <p:cNvPr id="12" name="TextBox 11"/>
          <p:cNvSpPr txBox="1"/>
          <p:nvPr/>
        </p:nvSpPr>
        <p:spPr>
          <a:xfrm>
            <a:off x="8449055" y="2011680"/>
            <a:ext cx="3200400" cy="777240"/>
          </a:xfrm>
          <a:prstGeom prst="rect">
            <a:avLst/>
          </a:prstGeom>
          <a:noFill/>
        </p:spPr>
        <p:txBody>
          <a:bodyPr wrap="square">
            <a:spAutoFit/>
          </a:bodyPr>
          <a:lstStyle/>
          <a:p>
            <a:pPr algn="l"/>
            <a:r>
              <a:rPr sz="1500" b="0" i="0">
                <a:solidFill>
                  <a:srgbClr val="D4D8E8"/>
                </a:solidFill>
              </a:rPr>
              <a:t>Open-source OCR engine</a:t>
            </a:r>
          </a:p>
        </p:txBody>
      </p:sp>
      <p:sp>
        <p:nvSpPr>
          <p:cNvPr id="13" name="Rectangle 12"/>
          <p:cNvSpPr/>
          <p:nvPr/>
        </p:nvSpPr>
        <p:spPr>
          <a:xfrm>
            <a:off x="548640" y="3319272"/>
            <a:ext cx="3611880" cy="1719072"/>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56432"/>
            <a:ext cx="3200400" cy="502920"/>
          </a:xfrm>
          <a:prstGeom prst="rect">
            <a:avLst/>
          </a:prstGeom>
          <a:noFill/>
        </p:spPr>
        <p:txBody>
          <a:bodyPr wrap="square">
            <a:spAutoFit/>
          </a:bodyPr>
          <a:lstStyle/>
          <a:p>
            <a:pPr algn="l"/>
            <a:r>
              <a:rPr sz="2000" b="1" i="0">
                <a:solidFill>
                  <a:srgbClr val="6AC8A0"/>
                </a:solidFill>
              </a:rPr>
              <a:t>GPT-4o</a:t>
            </a:r>
          </a:p>
        </p:txBody>
      </p:sp>
      <p:sp>
        <p:nvSpPr>
          <p:cNvPr id="15" name="TextBox 14"/>
          <p:cNvSpPr txBox="1"/>
          <p:nvPr/>
        </p:nvSpPr>
        <p:spPr>
          <a:xfrm>
            <a:off x="731520" y="3977640"/>
            <a:ext cx="3200400" cy="777240"/>
          </a:xfrm>
          <a:prstGeom prst="rect">
            <a:avLst/>
          </a:prstGeom>
          <a:noFill/>
        </p:spPr>
        <p:txBody>
          <a:bodyPr wrap="square">
            <a:spAutoFit/>
          </a:bodyPr>
          <a:lstStyle/>
          <a:p>
            <a:pPr algn="l"/>
            <a:r>
              <a:rPr sz="1500" b="0" i="0">
                <a:solidFill>
                  <a:srgbClr val="D4D8E8"/>
                </a:solidFill>
              </a:rPr>
              <a:t>General frontier LLM</a:t>
            </a:r>
          </a:p>
        </p:txBody>
      </p:sp>
      <p:sp>
        <p:nvSpPr>
          <p:cNvPr id="16" name="Rectangle 15"/>
          <p:cNvSpPr/>
          <p:nvPr/>
        </p:nvSpPr>
        <p:spPr>
          <a:xfrm>
            <a:off x="4407407" y="3319272"/>
            <a:ext cx="3611880" cy="1719072"/>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7" y="3456432"/>
            <a:ext cx="3200400" cy="502920"/>
          </a:xfrm>
          <a:prstGeom prst="rect">
            <a:avLst/>
          </a:prstGeom>
          <a:noFill/>
        </p:spPr>
        <p:txBody>
          <a:bodyPr wrap="square">
            <a:spAutoFit/>
          </a:bodyPr>
          <a:lstStyle/>
          <a:p>
            <a:pPr algn="l"/>
            <a:r>
              <a:rPr sz="2000" b="1" i="0">
                <a:solidFill>
                  <a:srgbClr val="6AC8A0"/>
                </a:solidFill>
              </a:rPr>
              <a:t>Claude</a:t>
            </a:r>
          </a:p>
        </p:txBody>
      </p:sp>
      <p:sp>
        <p:nvSpPr>
          <p:cNvPr id="18" name="TextBox 17"/>
          <p:cNvSpPr txBox="1"/>
          <p:nvPr/>
        </p:nvSpPr>
        <p:spPr>
          <a:xfrm>
            <a:off x="4590287" y="3977640"/>
            <a:ext cx="3200400" cy="777240"/>
          </a:xfrm>
          <a:prstGeom prst="rect">
            <a:avLst/>
          </a:prstGeom>
          <a:noFill/>
        </p:spPr>
        <p:txBody>
          <a:bodyPr wrap="square">
            <a:spAutoFit/>
          </a:bodyPr>
          <a:lstStyle/>
          <a:p>
            <a:pPr algn="l"/>
            <a:r>
              <a:rPr sz="1500" b="0" i="0">
                <a:solidFill>
                  <a:srgbClr val="D4D8E8"/>
                </a:solidFill>
              </a:rPr>
              <a:t>General frontier LLM</a:t>
            </a:r>
          </a:p>
        </p:txBody>
      </p:sp>
      <p:sp>
        <p:nvSpPr>
          <p:cNvPr id="19" name="Rectangle 18"/>
          <p:cNvSpPr/>
          <p:nvPr/>
        </p:nvSpPr>
        <p:spPr>
          <a:xfrm>
            <a:off x="8266175" y="3319272"/>
            <a:ext cx="3611880" cy="1719072"/>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49055" y="3456432"/>
            <a:ext cx="3200400" cy="502920"/>
          </a:xfrm>
          <a:prstGeom prst="rect">
            <a:avLst/>
          </a:prstGeom>
          <a:noFill/>
        </p:spPr>
        <p:txBody>
          <a:bodyPr wrap="square">
            <a:spAutoFit/>
          </a:bodyPr>
          <a:lstStyle/>
          <a:p>
            <a:pPr algn="l"/>
            <a:r>
              <a:rPr sz="2000" b="1" i="0">
                <a:solidFill>
                  <a:srgbClr val="6AC8A0"/>
                </a:solidFill>
              </a:rPr>
              <a:t>Gemini</a:t>
            </a:r>
          </a:p>
        </p:txBody>
      </p:sp>
      <p:sp>
        <p:nvSpPr>
          <p:cNvPr id="21" name="TextBox 20"/>
          <p:cNvSpPr txBox="1"/>
          <p:nvPr/>
        </p:nvSpPr>
        <p:spPr>
          <a:xfrm>
            <a:off x="8449055" y="3977640"/>
            <a:ext cx="3200400" cy="777240"/>
          </a:xfrm>
          <a:prstGeom prst="rect">
            <a:avLst/>
          </a:prstGeom>
          <a:noFill/>
        </p:spPr>
        <p:txBody>
          <a:bodyPr wrap="square">
            <a:spAutoFit/>
          </a:bodyPr>
          <a:lstStyle/>
          <a:p>
            <a:pPr algn="l"/>
            <a:r>
              <a:rPr sz="1500" b="0" i="0">
                <a:solidFill>
                  <a:srgbClr val="D4D8E8"/>
                </a:solidFill>
              </a:rPr>
              <a:t>General frontier LLM</a:t>
            </a:r>
          </a:p>
        </p:txBody>
      </p:sp>
      <p:sp>
        <p:nvSpPr>
          <p:cNvPr id="22" name="Rectangle 21"/>
          <p:cNvSpPr/>
          <p:nvPr/>
        </p:nvSpPr>
        <p:spPr>
          <a:xfrm>
            <a:off x="548640" y="5504688"/>
            <a:ext cx="11064240" cy="777240"/>
          </a:xfrm>
          <a:prstGeom prst="rect">
            <a:avLst/>
          </a:prstGeom>
          <a:solidFill>
            <a:srgbClr val="352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577840"/>
            <a:ext cx="10515600" cy="594360"/>
          </a:xfrm>
          <a:prstGeom prst="rect">
            <a:avLst/>
          </a:prstGeom>
          <a:noFill/>
        </p:spPr>
        <p:txBody>
          <a:bodyPr wrap="square">
            <a:spAutoFit/>
          </a:bodyPr>
          <a:lstStyle/>
          <a:p>
            <a:pPr algn="l"/>
            <a:r>
              <a:rPr sz="1700" b="1" i="0">
                <a:solidFill>
                  <a:srgbClr val="E8A830"/>
                </a:solidFill>
              </a:rPr>
              <a:t>⚠️  No existing system intelligently combines these, evaluates them, and improves over time.</a:t>
            </a:r>
          </a:p>
        </p:txBody>
      </p:sp>
      <p:sp>
        <p:nvSpPr>
          <p:cNvPr id="24" name="TextBox 23"/>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A full HTR pipeline — built by you</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2286000"/>
            <a:ext cx="1572768" cy="210312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2487168"/>
            <a:ext cx="1572768" cy="685800"/>
          </a:xfrm>
          <a:prstGeom prst="rect">
            <a:avLst/>
          </a:prstGeom>
          <a:noFill/>
        </p:spPr>
        <p:txBody>
          <a:bodyPr wrap="square">
            <a:spAutoFit/>
          </a:bodyPr>
          <a:lstStyle/>
          <a:p>
            <a:pPr algn="ctr"/>
            <a:r>
              <a:rPr sz="3000" b="0" i="0">
                <a:solidFill>
                  <a:srgbClr val="FFFFFF"/>
                </a:solidFill>
              </a:rPr>
              <a:t>📷</a:t>
            </a:r>
          </a:p>
        </p:txBody>
      </p:sp>
      <p:sp>
        <p:nvSpPr>
          <p:cNvPr id="6" name="TextBox 5"/>
          <p:cNvSpPr txBox="1"/>
          <p:nvPr/>
        </p:nvSpPr>
        <p:spPr>
          <a:xfrm>
            <a:off x="320040" y="3291840"/>
            <a:ext cx="1572768" cy="914400"/>
          </a:xfrm>
          <a:prstGeom prst="rect">
            <a:avLst/>
          </a:prstGeom>
          <a:noFill/>
        </p:spPr>
        <p:txBody>
          <a:bodyPr wrap="square">
            <a:spAutoFit/>
          </a:bodyPr>
          <a:lstStyle/>
          <a:p>
            <a:pPr algn="ctr"/>
            <a:r>
              <a:rPr sz="1500" b="0" i="0">
                <a:solidFill>
                  <a:srgbClr val="FFFFFF"/>
                </a:solidFill>
              </a:rPr>
              <a:t>Image
Input</a:t>
            </a:r>
          </a:p>
        </p:txBody>
      </p:sp>
      <p:sp>
        <p:nvSpPr>
          <p:cNvPr id="7" name="TextBox 6"/>
          <p:cNvSpPr txBox="1"/>
          <p:nvPr/>
        </p:nvSpPr>
        <p:spPr>
          <a:xfrm>
            <a:off x="1911096" y="2926080"/>
            <a:ext cx="274320" cy="548640"/>
          </a:xfrm>
          <a:prstGeom prst="rect">
            <a:avLst/>
          </a:prstGeom>
          <a:noFill/>
        </p:spPr>
        <p:txBody>
          <a:bodyPr wrap="square">
            <a:spAutoFit/>
          </a:bodyPr>
          <a:lstStyle/>
          <a:p>
            <a:pPr algn="ctr"/>
            <a:r>
              <a:rPr sz="2000" b="0" i="0">
                <a:solidFill>
                  <a:srgbClr val="E8A830"/>
                </a:solidFill>
              </a:rPr>
              <a:t>→</a:t>
            </a:r>
          </a:p>
        </p:txBody>
      </p:sp>
      <p:sp>
        <p:nvSpPr>
          <p:cNvPr id="8" name="Rectangle 7"/>
          <p:cNvSpPr/>
          <p:nvPr/>
        </p:nvSpPr>
        <p:spPr>
          <a:xfrm>
            <a:off x="2075688" y="2286000"/>
            <a:ext cx="1572768" cy="210312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75688" y="2487168"/>
            <a:ext cx="1572768" cy="685800"/>
          </a:xfrm>
          <a:prstGeom prst="rect">
            <a:avLst/>
          </a:prstGeom>
          <a:noFill/>
        </p:spPr>
        <p:txBody>
          <a:bodyPr wrap="square">
            <a:spAutoFit/>
          </a:bodyPr>
          <a:lstStyle/>
          <a:p>
            <a:pPr algn="ctr"/>
            <a:r>
              <a:rPr sz="3000" b="0" i="0">
                <a:solidFill>
                  <a:srgbClr val="FFFFFF"/>
                </a:solidFill>
              </a:rPr>
              <a:t>🤖</a:t>
            </a:r>
          </a:p>
        </p:txBody>
      </p:sp>
      <p:sp>
        <p:nvSpPr>
          <p:cNvPr id="10" name="TextBox 9"/>
          <p:cNvSpPr txBox="1"/>
          <p:nvPr/>
        </p:nvSpPr>
        <p:spPr>
          <a:xfrm>
            <a:off x="2075688" y="3291840"/>
            <a:ext cx="1572768" cy="914400"/>
          </a:xfrm>
          <a:prstGeom prst="rect">
            <a:avLst/>
          </a:prstGeom>
          <a:noFill/>
        </p:spPr>
        <p:txBody>
          <a:bodyPr wrap="square">
            <a:spAutoFit/>
          </a:bodyPr>
          <a:lstStyle/>
          <a:p>
            <a:pPr algn="ctr"/>
            <a:r>
              <a:rPr sz="1500" b="0" i="0">
                <a:solidFill>
                  <a:srgbClr val="FFFFFF"/>
                </a:solidFill>
              </a:rPr>
              <a:t>Model
Selection</a:t>
            </a:r>
          </a:p>
        </p:txBody>
      </p:sp>
      <p:sp>
        <p:nvSpPr>
          <p:cNvPr id="11" name="TextBox 10"/>
          <p:cNvSpPr txBox="1"/>
          <p:nvPr/>
        </p:nvSpPr>
        <p:spPr>
          <a:xfrm>
            <a:off x="3666744" y="2926080"/>
            <a:ext cx="274320" cy="548640"/>
          </a:xfrm>
          <a:prstGeom prst="rect">
            <a:avLst/>
          </a:prstGeom>
          <a:noFill/>
        </p:spPr>
        <p:txBody>
          <a:bodyPr wrap="square">
            <a:spAutoFit/>
          </a:bodyPr>
          <a:lstStyle/>
          <a:p>
            <a:pPr algn="ctr"/>
            <a:r>
              <a:rPr sz="2000" b="0" i="0">
                <a:solidFill>
                  <a:srgbClr val="E8A830"/>
                </a:solidFill>
              </a:rPr>
              <a:t>→</a:t>
            </a:r>
          </a:p>
        </p:txBody>
      </p:sp>
      <p:sp>
        <p:nvSpPr>
          <p:cNvPr id="12" name="Rectangle 11"/>
          <p:cNvSpPr/>
          <p:nvPr/>
        </p:nvSpPr>
        <p:spPr>
          <a:xfrm>
            <a:off x="3831336" y="2286000"/>
            <a:ext cx="1572768" cy="210312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31336" y="2487168"/>
            <a:ext cx="1572768" cy="685800"/>
          </a:xfrm>
          <a:prstGeom prst="rect">
            <a:avLst/>
          </a:prstGeom>
          <a:noFill/>
        </p:spPr>
        <p:txBody>
          <a:bodyPr wrap="square">
            <a:spAutoFit/>
          </a:bodyPr>
          <a:lstStyle/>
          <a:p>
            <a:pPr algn="ctr"/>
            <a:r>
              <a:rPr sz="3000" b="0" i="0">
                <a:solidFill>
                  <a:srgbClr val="FFFFFF"/>
                </a:solidFill>
              </a:rPr>
              <a:t>📝</a:t>
            </a:r>
          </a:p>
        </p:txBody>
      </p:sp>
      <p:sp>
        <p:nvSpPr>
          <p:cNvPr id="14" name="TextBox 13"/>
          <p:cNvSpPr txBox="1"/>
          <p:nvPr/>
        </p:nvSpPr>
        <p:spPr>
          <a:xfrm>
            <a:off x="3831336" y="3291840"/>
            <a:ext cx="1572768" cy="914400"/>
          </a:xfrm>
          <a:prstGeom prst="rect">
            <a:avLst/>
          </a:prstGeom>
          <a:noFill/>
        </p:spPr>
        <p:txBody>
          <a:bodyPr wrap="square">
            <a:spAutoFit/>
          </a:bodyPr>
          <a:lstStyle/>
          <a:p>
            <a:pPr algn="ctr"/>
            <a:r>
              <a:rPr sz="1500" b="0" i="0">
                <a:solidFill>
                  <a:srgbClr val="FFFFFF"/>
                </a:solidFill>
              </a:rPr>
              <a:t>Transcription
Output</a:t>
            </a:r>
          </a:p>
        </p:txBody>
      </p:sp>
      <p:sp>
        <p:nvSpPr>
          <p:cNvPr id="15" name="TextBox 14"/>
          <p:cNvSpPr txBox="1"/>
          <p:nvPr/>
        </p:nvSpPr>
        <p:spPr>
          <a:xfrm>
            <a:off x="5422392" y="2926080"/>
            <a:ext cx="274320" cy="548640"/>
          </a:xfrm>
          <a:prstGeom prst="rect">
            <a:avLst/>
          </a:prstGeom>
          <a:noFill/>
        </p:spPr>
        <p:txBody>
          <a:bodyPr wrap="square">
            <a:spAutoFit/>
          </a:bodyPr>
          <a:lstStyle/>
          <a:p>
            <a:pPr algn="ctr"/>
            <a:r>
              <a:rPr sz="2000" b="0" i="0">
                <a:solidFill>
                  <a:srgbClr val="E8A830"/>
                </a:solidFill>
              </a:rPr>
              <a:t>→</a:t>
            </a:r>
          </a:p>
        </p:txBody>
      </p:sp>
      <p:sp>
        <p:nvSpPr>
          <p:cNvPr id="16" name="Rectangle 15"/>
          <p:cNvSpPr/>
          <p:nvPr/>
        </p:nvSpPr>
        <p:spPr>
          <a:xfrm>
            <a:off x="5586984" y="2286000"/>
            <a:ext cx="1572768" cy="210312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86984" y="2487168"/>
            <a:ext cx="1572768" cy="685800"/>
          </a:xfrm>
          <a:prstGeom prst="rect">
            <a:avLst/>
          </a:prstGeom>
          <a:noFill/>
        </p:spPr>
        <p:txBody>
          <a:bodyPr wrap="square">
            <a:spAutoFit/>
          </a:bodyPr>
          <a:lstStyle/>
          <a:p>
            <a:pPr algn="ctr"/>
            <a:r>
              <a:rPr sz="3000" b="0" i="0">
                <a:solidFill>
                  <a:srgbClr val="FFFFFF"/>
                </a:solidFill>
              </a:rPr>
              <a:t>🔥</a:t>
            </a:r>
          </a:p>
        </p:txBody>
      </p:sp>
      <p:sp>
        <p:nvSpPr>
          <p:cNvPr id="18" name="TextBox 17"/>
          <p:cNvSpPr txBox="1"/>
          <p:nvPr/>
        </p:nvSpPr>
        <p:spPr>
          <a:xfrm>
            <a:off x="5586984" y="3291840"/>
            <a:ext cx="1572768" cy="914400"/>
          </a:xfrm>
          <a:prstGeom prst="rect">
            <a:avLst/>
          </a:prstGeom>
          <a:noFill/>
        </p:spPr>
        <p:txBody>
          <a:bodyPr wrap="square">
            <a:spAutoFit/>
          </a:bodyPr>
          <a:lstStyle/>
          <a:p>
            <a:pPr algn="ctr"/>
            <a:r>
              <a:rPr sz="1500" b="0" i="0">
                <a:solidFill>
                  <a:srgbClr val="FFFFFF"/>
                </a:solidFill>
              </a:rPr>
              <a:t>Confidence
Map</a:t>
            </a:r>
          </a:p>
        </p:txBody>
      </p:sp>
      <p:sp>
        <p:nvSpPr>
          <p:cNvPr id="19" name="TextBox 18"/>
          <p:cNvSpPr txBox="1"/>
          <p:nvPr/>
        </p:nvSpPr>
        <p:spPr>
          <a:xfrm>
            <a:off x="7178040" y="2926080"/>
            <a:ext cx="274320" cy="548640"/>
          </a:xfrm>
          <a:prstGeom prst="rect">
            <a:avLst/>
          </a:prstGeom>
          <a:noFill/>
        </p:spPr>
        <p:txBody>
          <a:bodyPr wrap="square">
            <a:spAutoFit/>
          </a:bodyPr>
          <a:lstStyle/>
          <a:p>
            <a:pPr algn="ctr"/>
            <a:r>
              <a:rPr sz="2000" b="0" i="0">
                <a:solidFill>
                  <a:srgbClr val="E8A830"/>
                </a:solidFill>
              </a:rPr>
              <a:t>→</a:t>
            </a:r>
          </a:p>
        </p:txBody>
      </p:sp>
      <p:sp>
        <p:nvSpPr>
          <p:cNvPr id="20" name="Rectangle 19"/>
          <p:cNvSpPr/>
          <p:nvPr/>
        </p:nvSpPr>
        <p:spPr>
          <a:xfrm>
            <a:off x="7342632" y="2286000"/>
            <a:ext cx="1572768" cy="210312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2632" y="2487168"/>
            <a:ext cx="1572768" cy="685800"/>
          </a:xfrm>
          <a:prstGeom prst="rect">
            <a:avLst/>
          </a:prstGeom>
          <a:noFill/>
        </p:spPr>
        <p:txBody>
          <a:bodyPr wrap="square">
            <a:spAutoFit/>
          </a:bodyPr>
          <a:lstStyle/>
          <a:p>
            <a:pPr algn="ctr"/>
            <a:r>
              <a:rPr sz="3000" b="0" i="0">
                <a:solidFill>
                  <a:srgbClr val="FFFFFF"/>
                </a:solidFill>
              </a:rPr>
              <a:t>✏️</a:t>
            </a:r>
          </a:p>
        </p:txBody>
      </p:sp>
      <p:sp>
        <p:nvSpPr>
          <p:cNvPr id="22" name="TextBox 21"/>
          <p:cNvSpPr txBox="1"/>
          <p:nvPr/>
        </p:nvSpPr>
        <p:spPr>
          <a:xfrm>
            <a:off x="7342632" y="3291840"/>
            <a:ext cx="1572768" cy="914400"/>
          </a:xfrm>
          <a:prstGeom prst="rect">
            <a:avLst/>
          </a:prstGeom>
          <a:noFill/>
        </p:spPr>
        <p:txBody>
          <a:bodyPr wrap="square">
            <a:spAutoFit/>
          </a:bodyPr>
          <a:lstStyle/>
          <a:p>
            <a:pPr algn="ctr"/>
            <a:r>
              <a:rPr sz="1500" b="0" i="0">
                <a:solidFill>
                  <a:srgbClr val="FFFFFF"/>
                </a:solidFill>
              </a:rPr>
              <a:t>Human
Edit</a:t>
            </a:r>
          </a:p>
        </p:txBody>
      </p:sp>
      <p:sp>
        <p:nvSpPr>
          <p:cNvPr id="23" name="TextBox 22"/>
          <p:cNvSpPr txBox="1"/>
          <p:nvPr/>
        </p:nvSpPr>
        <p:spPr>
          <a:xfrm>
            <a:off x="8933688" y="2926080"/>
            <a:ext cx="274320" cy="548640"/>
          </a:xfrm>
          <a:prstGeom prst="rect">
            <a:avLst/>
          </a:prstGeom>
          <a:noFill/>
        </p:spPr>
        <p:txBody>
          <a:bodyPr wrap="square">
            <a:spAutoFit/>
          </a:bodyPr>
          <a:lstStyle/>
          <a:p>
            <a:pPr algn="ctr"/>
            <a:r>
              <a:rPr sz="2000" b="0" i="0">
                <a:solidFill>
                  <a:srgbClr val="E8A830"/>
                </a:solidFill>
              </a:rPr>
              <a:t>→</a:t>
            </a:r>
          </a:p>
        </p:txBody>
      </p:sp>
      <p:sp>
        <p:nvSpPr>
          <p:cNvPr id="24" name="Rectangle 23"/>
          <p:cNvSpPr/>
          <p:nvPr/>
        </p:nvSpPr>
        <p:spPr>
          <a:xfrm>
            <a:off x="9098280" y="2286000"/>
            <a:ext cx="1572768" cy="210312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2487168"/>
            <a:ext cx="1572768" cy="685800"/>
          </a:xfrm>
          <a:prstGeom prst="rect">
            <a:avLst/>
          </a:prstGeom>
          <a:noFill/>
        </p:spPr>
        <p:txBody>
          <a:bodyPr wrap="square">
            <a:spAutoFit/>
          </a:bodyPr>
          <a:lstStyle/>
          <a:p>
            <a:pPr algn="ctr"/>
            <a:r>
              <a:rPr sz="3000" b="0" i="0">
                <a:solidFill>
                  <a:srgbClr val="FFFFFF"/>
                </a:solidFill>
              </a:rPr>
              <a:t>🔁</a:t>
            </a:r>
          </a:p>
        </p:txBody>
      </p:sp>
      <p:sp>
        <p:nvSpPr>
          <p:cNvPr id="26" name="TextBox 25"/>
          <p:cNvSpPr txBox="1"/>
          <p:nvPr/>
        </p:nvSpPr>
        <p:spPr>
          <a:xfrm>
            <a:off x="9098280" y="3291840"/>
            <a:ext cx="1572768" cy="914400"/>
          </a:xfrm>
          <a:prstGeom prst="rect">
            <a:avLst/>
          </a:prstGeom>
          <a:noFill/>
        </p:spPr>
        <p:txBody>
          <a:bodyPr wrap="square">
            <a:spAutoFit/>
          </a:bodyPr>
          <a:lstStyle/>
          <a:p>
            <a:pPr algn="ctr"/>
            <a:r>
              <a:rPr sz="1500" b="0" i="0">
                <a:solidFill>
                  <a:srgbClr val="FFFFFF"/>
                </a:solidFill>
              </a:rPr>
              <a:t>Feedback
Loop</a:t>
            </a:r>
          </a:p>
        </p:txBody>
      </p:sp>
      <p:sp>
        <p:nvSpPr>
          <p:cNvPr id="27" name="TextBox 26"/>
          <p:cNvSpPr txBox="1"/>
          <p:nvPr/>
        </p:nvSpPr>
        <p:spPr>
          <a:xfrm>
            <a:off x="548640" y="4663440"/>
            <a:ext cx="11064240" cy="594360"/>
          </a:xfrm>
          <a:prstGeom prst="rect">
            <a:avLst/>
          </a:prstGeom>
          <a:noFill/>
        </p:spPr>
        <p:txBody>
          <a:bodyPr wrap="square">
            <a:spAutoFit/>
          </a:bodyPr>
          <a:lstStyle/>
          <a:p>
            <a:pPr algn="ctr"/>
            <a:r>
              <a:rPr sz="1700" b="0" i="0">
                <a:solidFill>
                  <a:srgbClr val="D4D8E8"/>
                </a:solidFill>
              </a:rPr>
              <a:t>Upload a manuscript  →  get a transcription  →  see where it's uncertain  →  fix it  →  make the system smarter.</a:t>
            </a:r>
          </a:p>
        </p:txBody>
      </p:sp>
      <p:sp>
        <p:nvSpPr>
          <p:cNvPr id="28" name="TextBox 27"/>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What you'd actually build</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8448"/>
            <a:ext cx="11064240" cy="749808"/>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389888"/>
            <a:ext cx="2834640" cy="502920"/>
          </a:xfrm>
          <a:prstGeom prst="rect">
            <a:avLst/>
          </a:prstGeom>
          <a:noFill/>
        </p:spPr>
        <p:txBody>
          <a:bodyPr wrap="square">
            <a:spAutoFit/>
          </a:bodyPr>
          <a:lstStyle/>
          <a:p>
            <a:pPr algn="l"/>
            <a:r>
              <a:rPr sz="1600" b="1" i="0">
                <a:solidFill>
                  <a:srgbClr val="E8A830"/>
                </a:solidFill>
              </a:rPr>
              <a:t>Model Router</a:t>
            </a:r>
          </a:p>
        </p:txBody>
      </p:sp>
      <p:sp>
        <p:nvSpPr>
          <p:cNvPr id="6" name="TextBox 5"/>
          <p:cNvSpPr txBox="1"/>
          <p:nvPr/>
        </p:nvSpPr>
        <p:spPr>
          <a:xfrm>
            <a:off x="3749039" y="1463040"/>
            <a:ext cx="7680960" cy="457200"/>
          </a:xfrm>
          <a:prstGeom prst="rect">
            <a:avLst/>
          </a:prstGeom>
          <a:noFill/>
        </p:spPr>
        <p:txBody>
          <a:bodyPr wrap="square">
            <a:spAutoFit/>
          </a:bodyPr>
          <a:lstStyle/>
          <a:p>
            <a:pPr algn="l"/>
            <a:r>
              <a:rPr sz="1500" b="0" i="0">
                <a:solidFill>
                  <a:srgbClr val="D4D8E8"/>
                </a:solidFill>
              </a:rPr>
              <a:t>Choose between LLM APIs, local models, or traditional OCR per document</a:t>
            </a:r>
          </a:p>
        </p:txBody>
      </p:sp>
      <p:sp>
        <p:nvSpPr>
          <p:cNvPr id="7" name="Rectangle 6"/>
          <p:cNvSpPr/>
          <p:nvPr/>
        </p:nvSpPr>
        <p:spPr>
          <a:xfrm>
            <a:off x="548640" y="2157984"/>
            <a:ext cx="11064240" cy="749808"/>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249424"/>
            <a:ext cx="2834640" cy="502920"/>
          </a:xfrm>
          <a:prstGeom prst="rect">
            <a:avLst/>
          </a:prstGeom>
          <a:noFill/>
        </p:spPr>
        <p:txBody>
          <a:bodyPr wrap="square">
            <a:spAutoFit/>
          </a:bodyPr>
          <a:lstStyle/>
          <a:p>
            <a:pPr algn="l"/>
            <a:r>
              <a:rPr sz="1600" b="1" i="0">
                <a:solidFill>
                  <a:srgbClr val="E8A830"/>
                </a:solidFill>
              </a:rPr>
              <a:t>Prompt Builder</a:t>
            </a:r>
          </a:p>
        </p:txBody>
      </p:sp>
      <p:sp>
        <p:nvSpPr>
          <p:cNvPr id="9" name="TextBox 8"/>
          <p:cNvSpPr txBox="1"/>
          <p:nvPr/>
        </p:nvSpPr>
        <p:spPr>
          <a:xfrm>
            <a:off x="3749039" y="2322576"/>
            <a:ext cx="7680960" cy="457200"/>
          </a:xfrm>
          <a:prstGeom prst="rect">
            <a:avLst/>
          </a:prstGeom>
          <a:noFill/>
        </p:spPr>
        <p:txBody>
          <a:bodyPr wrap="square">
            <a:spAutoFit/>
          </a:bodyPr>
          <a:lstStyle/>
          <a:p>
            <a:pPr algn="l"/>
            <a:r>
              <a:rPr sz="1500" b="0" i="0">
                <a:solidFill>
                  <a:srgbClr val="D4D8E8"/>
                </a:solidFill>
              </a:rPr>
              <a:t>Few-shot examples, anti-hallucination safeguards, temperature control</a:t>
            </a:r>
          </a:p>
        </p:txBody>
      </p:sp>
      <p:sp>
        <p:nvSpPr>
          <p:cNvPr id="10" name="Rectangle 9"/>
          <p:cNvSpPr/>
          <p:nvPr/>
        </p:nvSpPr>
        <p:spPr>
          <a:xfrm>
            <a:off x="548640" y="3017520"/>
            <a:ext cx="11064240" cy="749808"/>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108960"/>
            <a:ext cx="2834640" cy="502920"/>
          </a:xfrm>
          <a:prstGeom prst="rect">
            <a:avLst/>
          </a:prstGeom>
          <a:noFill/>
        </p:spPr>
        <p:txBody>
          <a:bodyPr wrap="square">
            <a:spAutoFit/>
          </a:bodyPr>
          <a:lstStyle/>
          <a:p>
            <a:pPr algn="l"/>
            <a:r>
              <a:rPr sz="1600" b="1" i="0">
                <a:solidFill>
                  <a:srgbClr val="E8A830"/>
                </a:solidFill>
              </a:rPr>
              <a:t>Accuracy Evaluator</a:t>
            </a:r>
          </a:p>
        </p:txBody>
      </p:sp>
      <p:sp>
        <p:nvSpPr>
          <p:cNvPr id="12" name="TextBox 11"/>
          <p:cNvSpPr txBox="1"/>
          <p:nvPr/>
        </p:nvSpPr>
        <p:spPr>
          <a:xfrm>
            <a:off x="3749039" y="3182112"/>
            <a:ext cx="7680960" cy="457200"/>
          </a:xfrm>
          <a:prstGeom prst="rect">
            <a:avLst/>
          </a:prstGeom>
          <a:noFill/>
        </p:spPr>
        <p:txBody>
          <a:bodyPr wrap="square">
            <a:spAutoFit/>
          </a:bodyPr>
          <a:lstStyle/>
          <a:p>
            <a:pPr algn="l"/>
            <a:r>
              <a:rPr sz="1500" b="0" i="0">
                <a:solidFill>
                  <a:srgbClr val="D4D8E8"/>
                </a:solidFill>
              </a:rPr>
              <a:t>CER, WER, and BLEU scores calculated automatically per run</a:t>
            </a:r>
          </a:p>
        </p:txBody>
      </p:sp>
      <p:sp>
        <p:nvSpPr>
          <p:cNvPr id="13" name="Rectangle 12"/>
          <p:cNvSpPr/>
          <p:nvPr/>
        </p:nvSpPr>
        <p:spPr>
          <a:xfrm>
            <a:off x="548640" y="3877056"/>
            <a:ext cx="11064240" cy="749808"/>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968496"/>
            <a:ext cx="2834640" cy="502920"/>
          </a:xfrm>
          <a:prstGeom prst="rect">
            <a:avLst/>
          </a:prstGeom>
          <a:noFill/>
        </p:spPr>
        <p:txBody>
          <a:bodyPr wrap="square">
            <a:spAutoFit/>
          </a:bodyPr>
          <a:lstStyle/>
          <a:p>
            <a:pPr algn="l"/>
            <a:r>
              <a:rPr sz="1600" b="1" i="0">
                <a:solidFill>
                  <a:srgbClr val="E8A830"/>
                </a:solidFill>
              </a:rPr>
              <a:t>Confidence Heat Map</a:t>
            </a:r>
          </a:p>
        </p:txBody>
      </p:sp>
      <p:sp>
        <p:nvSpPr>
          <p:cNvPr id="15" name="TextBox 14"/>
          <p:cNvSpPr txBox="1"/>
          <p:nvPr/>
        </p:nvSpPr>
        <p:spPr>
          <a:xfrm>
            <a:off x="3749039" y="4041648"/>
            <a:ext cx="7680960" cy="457200"/>
          </a:xfrm>
          <a:prstGeom prst="rect">
            <a:avLst/>
          </a:prstGeom>
          <a:noFill/>
        </p:spPr>
        <p:txBody>
          <a:bodyPr wrap="square">
            <a:spAutoFit/>
          </a:bodyPr>
          <a:lstStyle/>
          <a:p>
            <a:pPr algn="l"/>
            <a:r>
              <a:rPr sz="1500" b="0" i="0">
                <a:solidFill>
                  <a:srgbClr val="D4D8E8"/>
                </a:solidFill>
              </a:rPr>
              <a:t>Visualize character-level uncertainty across the transcription</a:t>
            </a:r>
          </a:p>
        </p:txBody>
      </p:sp>
      <p:sp>
        <p:nvSpPr>
          <p:cNvPr id="16" name="Rectangle 15"/>
          <p:cNvSpPr/>
          <p:nvPr/>
        </p:nvSpPr>
        <p:spPr>
          <a:xfrm>
            <a:off x="548640" y="4736592"/>
            <a:ext cx="11064240" cy="749808"/>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828032"/>
            <a:ext cx="2834640" cy="502920"/>
          </a:xfrm>
          <a:prstGeom prst="rect">
            <a:avLst/>
          </a:prstGeom>
          <a:noFill/>
        </p:spPr>
        <p:txBody>
          <a:bodyPr wrap="square">
            <a:spAutoFit/>
          </a:bodyPr>
          <a:lstStyle/>
          <a:p>
            <a:pPr algn="l"/>
            <a:r>
              <a:rPr sz="1600" b="1" i="0">
                <a:solidFill>
                  <a:srgbClr val="E8A830"/>
                </a:solidFill>
              </a:rPr>
              <a:t>Editing Interface</a:t>
            </a:r>
          </a:p>
        </p:txBody>
      </p:sp>
      <p:sp>
        <p:nvSpPr>
          <p:cNvPr id="18" name="TextBox 17"/>
          <p:cNvSpPr txBox="1"/>
          <p:nvPr/>
        </p:nvSpPr>
        <p:spPr>
          <a:xfrm>
            <a:off x="3749039" y="4901184"/>
            <a:ext cx="7680960" cy="457200"/>
          </a:xfrm>
          <a:prstGeom prst="rect">
            <a:avLst/>
          </a:prstGeom>
          <a:noFill/>
        </p:spPr>
        <p:txBody>
          <a:bodyPr wrap="square">
            <a:spAutoFit/>
          </a:bodyPr>
          <a:lstStyle/>
          <a:p>
            <a:pPr algn="l"/>
            <a:r>
              <a:rPr sz="1500" b="0" i="0">
                <a:solidFill>
                  <a:srgbClr val="D4D8E8"/>
                </a:solidFill>
              </a:rPr>
              <a:t>Clean UI for human-in-the-loop correction of uncertain passages</a:t>
            </a:r>
          </a:p>
        </p:txBody>
      </p:sp>
      <p:sp>
        <p:nvSpPr>
          <p:cNvPr id="19" name="Rectangle 18"/>
          <p:cNvSpPr/>
          <p:nvPr/>
        </p:nvSpPr>
        <p:spPr>
          <a:xfrm>
            <a:off x="548640" y="5596127"/>
            <a:ext cx="11064240" cy="749808"/>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687567"/>
            <a:ext cx="2834640" cy="502920"/>
          </a:xfrm>
          <a:prstGeom prst="rect">
            <a:avLst/>
          </a:prstGeom>
          <a:noFill/>
        </p:spPr>
        <p:txBody>
          <a:bodyPr wrap="square">
            <a:spAutoFit/>
          </a:bodyPr>
          <a:lstStyle/>
          <a:p>
            <a:pPr algn="l"/>
            <a:r>
              <a:rPr sz="1600" b="1" i="0">
                <a:solidFill>
                  <a:srgbClr val="E8A830"/>
                </a:solidFill>
              </a:rPr>
              <a:t>Feedback System</a:t>
            </a:r>
          </a:p>
        </p:txBody>
      </p:sp>
      <p:sp>
        <p:nvSpPr>
          <p:cNvPr id="21" name="TextBox 20"/>
          <p:cNvSpPr txBox="1"/>
          <p:nvPr/>
        </p:nvSpPr>
        <p:spPr>
          <a:xfrm>
            <a:off x="3749039" y="5760719"/>
            <a:ext cx="7680960" cy="457200"/>
          </a:xfrm>
          <a:prstGeom prst="rect">
            <a:avLst/>
          </a:prstGeom>
          <a:noFill/>
        </p:spPr>
        <p:txBody>
          <a:bodyPr wrap="square">
            <a:spAutoFit/>
          </a:bodyPr>
          <a:lstStyle/>
          <a:p>
            <a:pPr algn="l"/>
            <a:r>
              <a:rPr sz="1500" b="0" i="0">
                <a:solidFill>
                  <a:srgbClr val="D4D8E8"/>
                </a:solidFill>
              </a:rPr>
              <a:t>Corrections become few-shot examples that improve future runs</a:t>
            </a:r>
          </a:p>
        </p:txBody>
      </p:sp>
      <p:sp>
        <p:nvSpPr>
          <p:cNvPr id="22" name="TextBox 21"/>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The genuinely interesting CS problems</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325880"/>
            <a:ext cx="5486400" cy="24231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08760"/>
            <a:ext cx="731520" cy="685800"/>
          </a:xfrm>
          <a:prstGeom prst="rect">
            <a:avLst/>
          </a:prstGeom>
          <a:noFill/>
        </p:spPr>
        <p:txBody>
          <a:bodyPr wrap="square">
            <a:spAutoFit/>
          </a:bodyPr>
          <a:lstStyle/>
          <a:p>
            <a:pPr algn="l"/>
            <a:r>
              <a:rPr sz="3000" b="0" i="0">
                <a:solidFill>
                  <a:srgbClr val="FFFFFF"/>
                </a:solidFill>
              </a:rPr>
              <a:t>🧠</a:t>
            </a:r>
          </a:p>
        </p:txBody>
      </p:sp>
      <p:sp>
        <p:nvSpPr>
          <p:cNvPr id="6" name="TextBox 5"/>
          <p:cNvSpPr txBox="1"/>
          <p:nvPr/>
        </p:nvSpPr>
        <p:spPr>
          <a:xfrm>
            <a:off x="1554480" y="1527048"/>
            <a:ext cx="4206240" cy="530352"/>
          </a:xfrm>
          <a:prstGeom prst="rect">
            <a:avLst/>
          </a:prstGeom>
          <a:noFill/>
        </p:spPr>
        <p:txBody>
          <a:bodyPr wrap="square">
            <a:spAutoFit/>
          </a:bodyPr>
          <a:lstStyle/>
          <a:p>
            <a:pPr algn="l"/>
            <a:r>
              <a:rPr sz="1900" b="1" i="0">
                <a:solidFill>
                  <a:srgbClr val="E8A830"/>
                </a:solidFill>
              </a:rPr>
              <a:t>Prompt Engineering</a:t>
            </a:r>
          </a:p>
        </p:txBody>
      </p:sp>
      <p:sp>
        <p:nvSpPr>
          <p:cNvPr id="7" name="TextBox 6"/>
          <p:cNvSpPr txBox="1"/>
          <p:nvPr/>
        </p:nvSpPr>
        <p:spPr>
          <a:xfrm>
            <a:off x="731520" y="2286000"/>
            <a:ext cx="5120640" cy="1325880"/>
          </a:xfrm>
          <a:prstGeom prst="rect">
            <a:avLst/>
          </a:prstGeom>
          <a:noFill/>
        </p:spPr>
        <p:txBody>
          <a:bodyPr wrap="square">
            <a:spAutoFit/>
          </a:bodyPr>
          <a:lstStyle/>
          <a:p>
            <a:pPr algn="l"/>
            <a:r>
              <a:rPr sz="1500" b="0" i="0">
                <a:solidFill>
                  <a:srgbClr val="D4D8E8"/>
                </a:solidFill>
              </a:rPr>
              <a:t>Few-shot learning, anti-hallucination
prompts, temperature tuning —
more nuanced than it sounds</a:t>
            </a:r>
          </a:p>
        </p:txBody>
      </p:sp>
      <p:sp>
        <p:nvSpPr>
          <p:cNvPr id="8" name="Rectangle 7"/>
          <p:cNvSpPr/>
          <p:nvPr/>
        </p:nvSpPr>
        <p:spPr>
          <a:xfrm>
            <a:off x="6281928" y="1325880"/>
            <a:ext cx="5486400" cy="24231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8" y="1508760"/>
            <a:ext cx="731520" cy="685800"/>
          </a:xfrm>
          <a:prstGeom prst="rect">
            <a:avLst/>
          </a:prstGeom>
          <a:noFill/>
        </p:spPr>
        <p:txBody>
          <a:bodyPr wrap="square">
            <a:spAutoFit/>
          </a:bodyPr>
          <a:lstStyle/>
          <a:p>
            <a:pPr algn="l"/>
            <a:r>
              <a:rPr sz="3000" b="0" i="0">
                <a:solidFill>
                  <a:srgbClr val="FFFFFF"/>
                </a:solidFill>
              </a:rPr>
              <a:t>📊</a:t>
            </a:r>
          </a:p>
        </p:txBody>
      </p:sp>
      <p:sp>
        <p:nvSpPr>
          <p:cNvPr id="10" name="TextBox 9"/>
          <p:cNvSpPr txBox="1"/>
          <p:nvPr/>
        </p:nvSpPr>
        <p:spPr>
          <a:xfrm>
            <a:off x="7287768" y="1527048"/>
            <a:ext cx="4206240" cy="530352"/>
          </a:xfrm>
          <a:prstGeom prst="rect">
            <a:avLst/>
          </a:prstGeom>
          <a:noFill/>
        </p:spPr>
        <p:txBody>
          <a:bodyPr wrap="square">
            <a:spAutoFit/>
          </a:bodyPr>
          <a:lstStyle/>
          <a:p>
            <a:pPr algn="l"/>
            <a:r>
              <a:rPr sz="1900" b="1" i="0">
                <a:solidFill>
                  <a:srgbClr val="E8A830"/>
                </a:solidFill>
              </a:rPr>
              <a:t>Evaluation Frameworks</a:t>
            </a:r>
          </a:p>
        </p:txBody>
      </p:sp>
      <p:sp>
        <p:nvSpPr>
          <p:cNvPr id="11" name="TextBox 10"/>
          <p:cNvSpPr txBox="1"/>
          <p:nvPr/>
        </p:nvSpPr>
        <p:spPr>
          <a:xfrm>
            <a:off x="6464808" y="2286000"/>
            <a:ext cx="5120640" cy="1325880"/>
          </a:xfrm>
          <a:prstGeom prst="rect">
            <a:avLst/>
          </a:prstGeom>
          <a:noFill/>
        </p:spPr>
        <p:txBody>
          <a:bodyPr wrap="square">
            <a:spAutoFit/>
          </a:bodyPr>
          <a:lstStyle/>
          <a:p>
            <a:pPr algn="l"/>
            <a:r>
              <a:rPr sz="1500" b="0" i="0">
                <a:solidFill>
                  <a:srgbClr val="D4D8E8"/>
                </a:solidFill>
              </a:rPr>
              <a:t>How do you measure transcription quality?
CER, WER, BLEU — and when do they
disagree with human judgment?</a:t>
            </a:r>
          </a:p>
        </p:txBody>
      </p:sp>
      <p:sp>
        <p:nvSpPr>
          <p:cNvPr id="12" name="Rectangle 11"/>
          <p:cNvSpPr/>
          <p:nvPr/>
        </p:nvSpPr>
        <p:spPr>
          <a:xfrm>
            <a:off x="548640" y="3931920"/>
            <a:ext cx="5486400" cy="24231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14800"/>
            <a:ext cx="731520" cy="685800"/>
          </a:xfrm>
          <a:prstGeom prst="rect">
            <a:avLst/>
          </a:prstGeom>
          <a:noFill/>
        </p:spPr>
        <p:txBody>
          <a:bodyPr wrap="square">
            <a:spAutoFit/>
          </a:bodyPr>
          <a:lstStyle/>
          <a:p>
            <a:pPr algn="l"/>
            <a:r>
              <a:rPr sz="3000" b="0" i="0">
                <a:solidFill>
                  <a:srgbClr val="FFFFFF"/>
                </a:solidFill>
              </a:rPr>
              <a:t>🗺️</a:t>
            </a:r>
          </a:p>
        </p:txBody>
      </p:sp>
      <p:sp>
        <p:nvSpPr>
          <p:cNvPr id="14" name="TextBox 13"/>
          <p:cNvSpPr txBox="1"/>
          <p:nvPr/>
        </p:nvSpPr>
        <p:spPr>
          <a:xfrm>
            <a:off x="1554480" y="4133088"/>
            <a:ext cx="4206240" cy="530352"/>
          </a:xfrm>
          <a:prstGeom prst="rect">
            <a:avLst/>
          </a:prstGeom>
          <a:noFill/>
        </p:spPr>
        <p:txBody>
          <a:bodyPr wrap="square">
            <a:spAutoFit/>
          </a:bodyPr>
          <a:lstStyle/>
          <a:p>
            <a:pPr algn="l"/>
            <a:r>
              <a:rPr sz="1900" b="1" i="0">
                <a:solidFill>
                  <a:srgbClr val="E8A830"/>
                </a:solidFill>
              </a:rPr>
              <a:t>Confidence Mapping</a:t>
            </a:r>
          </a:p>
        </p:txBody>
      </p:sp>
      <p:sp>
        <p:nvSpPr>
          <p:cNvPr id="15" name="TextBox 14"/>
          <p:cNvSpPr txBox="1"/>
          <p:nvPr/>
        </p:nvSpPr>
        <p:spPr>
          <a:xfrm>
            <a:off x="731520" y="4892040"/>
            <a:ext cx="5120640" cy="1325880"/>
          </a:xfrm>
          <a:prstGeom prst="rect">
            <a:avLst/>
          </a:prstGeom>
          <a:noFill/>
        </p:spPr>
        <p:txBody>
          <a:bodyPr wrap="square">
            <a:spAutoFit/>
          </a:bodyPr>
          <a:lstStyle/>
          <a:p>
            <a:pPr algn="l"/>
            <a:r>
              <a:rPr sz="1500" b="0" i="0">
                <a:solidFill>
                  <a:srgbClr val="D4D8E8"/>
                </a:solidFill>
              </a:rPr>
              <a:t>Character-level uncertainty visualization
using model logits or sampling —
a genuine systems challenge</a:t>
            </a:r>
          </a:p>
        </p:txBody>
      </p:sp>
      <p:sp>
        <p:nvSpPr>
          <p:cNvPr id="16" name="Rectangle 15"/>
          <p:cNvSpPr/>
          <p:nvPr/>
        </p:nvSpPr>
        <p:spPr>
          <a:xfrm>
            <a:off x="6281928" y="3931920"/>
            <a:ext cx="5486400" cy="24231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8" y="4114800"/>
            <a:ext cx="731520" cy="685800"/>
          </a:xfrm>
          <a:prstGeom prst="rect">
            <a:avLst/>
          </a:prstGeom>
          <a:noFill/>
        </p:spPr>
        <p:txBody>
          <a:bodyPr wrap="square">
            <a:spAutoFit/>
          </a:bodyPr>
          <a:lstStyle/>
          <a:p>
            <a:pPr algn="l"/>
            <a:r>
              <a:rPr sz="3000" b="0" i="0">
                <a:solidFill>
                  <a:srgbClr val="FFFFFF"/>
                </a:solidFill>
              </a:rPr>
              <a:t>🔁</a:t>
            </a:r>
          </a:p>
        </p:txBody>
      </p:sp>
      <p:sp>
        <p:nvSpPr>
          <p:cNvPr id="18" name="TextBox 17"/>
          <p:cNvSpPr txBox="1"/>
          <p:nvPr/>
        </p:nvSpPr>
        <p:spPr>
          <a:xfrm>
            <a:off x="7287768" y="4133088"/>
            <a:ext cx="4206240" cy="530352"/>
          </a:xfrm>
          <a:prstGeom prst="rect">
            <a:avLst/>
          </a:prstGeom>
          <a:noFill/>
        </p:spPr>
        <p:txBody>
          <a:bodyPr wrap="square">
            <a:spAutoFit/>
          </a:bodyPr>
          <a:lstStyle/>
          <a:p>
            <a:pPr algn="l"/>
            <a:r>
              <a:rPr sz="1900" b="1" i="0">
                <a:solidFill>
                  <a:srgbClr val="E8A830"/>
                </a:solidFill>
              </a:rPr>
              <a:t>Feedback Loops</a:t>
            </a:r>
          </a:p>
        </p:txBody>
      </p:sp>
      <p:sp>
        <p:nvSpPr>
          <p:cNvPr id="19" name="TextBox 18"/>
          <p:cNvSpPr txBox="1"/>
          <p:nvPr/>
        </p:nvSpPr>
        <p:spPr>
          <a:xfrm>
            <a:off x="6464808" y="4892040"/>
            <a:ext cx="5120640" cy="1325880"/>
          </a:xfrm>
          <a:prstGeom prst="rect">
            <a:avLst/>
          </a:prstGeom>
          <a:noFill/>
        </p:spPr>
        <p:txBody>
          <a:bodyPr wrap="square">
            <a:spAutoFit/>
          </a:bodyPr>
          <a:lstStyle/>
          <a:p>
            <a:pPr algn="l"/>
            <a:r>
              <a:rPr sz="1500" b="0" i="0">
                <a:solidFill>
                  <a:srgbClr val="D4D8E8"/>
                </a:solidFill>
              </a:rPr>
              <a:t>How do human corrections improve
few-shot performance over time?
Designing the loop is the hard part</a:t>
            </a:r>
          </a:p>
        </p:txBody>
      </p:sp>
      <p:sp>
        <p:nvSpPr>
          <p:cNvPr id="20" name="TextBox 19"/>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LLMs vs. specialized OCR: it depends</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353312"/>
            <a:ext cx="11064240" cy="502920"/>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2834640" cy="457200"/>
          </a:xfrm>
          <a:prstGeom prst="rect">
            <a:avLst/>
          </a:prstGeom>
          <a:noFill/>
        </p:spPr>
        <p:txBody>
          <a:bodyPr wrap="square">
            <a:spAutoFit/>
          </a:bodyPr>
          <a:lstStyle/>
          <a:p>
            <a:pPr algn="l"/>
            <a:r>
              <a:rPr sz="1400" b="1" i="0">
                <a:solidFill>
                  <a:srgbClr val="1A1F3C"/>
                </a:solidFill>
              </a:rPr>
              <a:t>Criterion</a:t>
            </a:r>
          </a:p>
        </p:txBody>
      </p:sp>
      <p:sp>
        <p:nvSpPr>
          <p:cNvPr id="6" name="TextBox 5"/>
          <p:cNvSpPr txBox="1"/>
          <p:nvPr/>
        </p:nvSpPr>
        <p:spPr>
          <a:xfrm>
            <a:off x="3657600" y="1371600"/>
            <a:ext cx="3840480" cy="457200"/>
          </a:xfrm>
          <a:prstGeom prst="rect">
            <a:avLst/>
          </a:prstGeom>
          <a:noFill/>
        </p:spPr>
        <p:txBody>
          <a:bodyPr wrap="square">
            <a:spAutoFit/>
          </a:bodyPr>
          <a:lstStyle/>
          <a:p>
            <a:pPr algn="l"/>
            <a:r>
              <a:rPr sz="1400" b="1" i="0">
                <a:solidFill>
                  <a:srgbClr val="1A1F3C"/>
                </a:solidFill>
              </a:rPr>
              <a:t>Specialized Models</a:t>
            </a:r>
          </a:p>
        </p:txBody>
      </p:sp>
      <p:sp>
        <p:nvSpPr>
          <p:cNvPr id="7" name="TextBox 6"/>
          <p:cNvSpPr txBox="1"/>
          <p:nvPr/>
        </p:nvSpPr>
        <p:spPr>
          <a:xfrm>
            <a:off x="7726679" y="1371600"/>
            <a:ext cx="3840480" cy="457200"/>
          </a:xfrm>
          <a:prstGeom prst="rect">
            <a:avLst/>
          </a:prstGeom>
          <a:noFill/>
        </p:spPr>
        <p:txBody>
          <a:bodyPr wrap="square">
            <a:spAutoFit/>
          </a:bodyPr>
          <a:lstStyle/>
          <a:p>
            <a:pPr algn="l"/>
            <a:r>
              <a:rPr sz="1400" b="1" i="0">
                <a:solidFill>
                  <a:srgbClr val="1A1F3C"/>
                </a:solidFill>
              </a:rPr>
              <a:t>General LLMs</a:t>
            </a:r>
          </a:p>
        </p:txBody>
      </p:sp>
      <p:sp>
        <p:nvSpPr>
          <p:cNvPr id="8" name="Rectangle 7"/>
          <p:cNvSpPr/>
          <p:nvPr/>
        </p:nvSpPr>
        <p:spPr>
          <a:xfrm>
            <a:off x="548640" y="1901952"/>
            <a:ext cx="11064240" cy="512064"/>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47672"/>
            <a:ext cx="2834640" cy="420624"/>
          </a:xfrm>
          <a:prstGeom prst="rect">
            <a:avLst/>
          </a:prstGeom>
          <a:noFill/>
        </p:spPr>
        <p:txBody>
          <a:bodyPr wrap="square">
            <a:spAutoFit/>
          </a:bodyPr>
          <a:lstStyle/>
          <a:p>
            <a:pPr algn="l"/>
            <a:r>
              <a:rPr sz="1400" b="0" i="0">
                <a:solidFill>
                  <a:srgbClr val="FFFFFF"/>
                </a:solidFill>
              </a:rPr>
              <a:t>English accuracy</a:t>
            </a:r>
          </a:p>
        </p:txBody>
      </p:sp>
      <p:sp>
        <p:nvSpPr>
          <p:cNvPr id="10" name="TextBox 9"/>
          <p:cNvSpPr txBox="1"/>
          <p:nvPr/>
        </p:nvSpPr>
        <p:spPr>
          <a:xfrm>
            <a:off x="3657600" y="1947672"/>
            <a:ext cx="3840480" cy="420624"/>
          </a:xfrm>
          <a:prstGeom prst="rect">
            <a:avLst/>
          </a:prstGeom>
          <a:noFill/>
        </p:spPr>
        <p:txBody>
          <a:bodyPr wrap="square">
            <a:spAutoFit/>
          </a:bodyPr>
          <a:lstStyle/>
          <a:p>
            <a:pPr algn="l"/>
            <a:r>
              <a:rPr sz="1400" b="0" i="0">
                <a:solidFill>
                  <a:srgbClr val="FFFFFF"/>
                </a:solidFill>
              </a:rPr>
              <a:t>✅ High</a:t>
            </a:r>
          </a:p>
        </p:txBody>
      </p:sp>
      <p:sp>
        <p:nvSpPr>
          <p:cNvPr id="11" name="TextBox 10"/>
          <p:cNvSpPr txBox="1"/>
          <p:nvPr/>
        </p:nvSpPr>
        <p:spPr>
          <a:xfrm>
            <a:off x="7726679" y="1947672"/>
            <a:ext cx="3840480" cy="420624"/>
          </a:xfrm>
          <a:prstGeom prst="rect">
            <a:avLst/>
          </a:prstGeom>
          <a:noFill/>
        </p:spPr>
        <p:txBody>
          <a:bodyPr wrap="square">
            <a:spAutoFit/>
          </a:bodyPr>
          <a:lstStyle/>
          <a:p>
            <a:pPr algn="l"/>
            <a:r>
              <a:rPr sz="1400" b="0" i="0">
                <a:solidFill>
                  <a:srgbClr val="FFFFFF"/>
                </a:solidFill>
              </a:rPr>
              <a:t>✅ High</a:t>
            </a:r>
          </a:p>
        </p:txBody>
      </p:sp>
      <p:sp>
        <p:nvSpPr>
          <p:cNvPr id="12" name="Rectangle 11"/>
          <p:cNvSpPr/>
          <p:nvPr/>
        </p:nvSpPr>
        <p:spPr>
          <a:xfrm>
            <a:off x="548640" y="2450592"/>
            <a:ext cx="11064240" cy="512064"/>
          </a:xfrm>
          <a:prstGeom prst="rect">
            <a:avLst/>
          </a:prstGeom>
          <a:solidFill>
            <a:srgbClr val="202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496312"/>
            <a:ext cx="2834640" cy="420624"/>
          </a:xfrm>
          <a:prstGeom prst="rect">
            <a:avLst/>
          </a:prstGeom>
          <a:noFill/>
        </p:spPr>
        <p:txBody>
          <a:bodyPr wrap="square">
            <a:spAutoFit/>
          </a:bodyPr>
          <a:lstStyle/>
          <a:p>
            <a:pPr algn="l"/>
            <a:r>
              <a:rPr sz="1400" b="0" i="0">
                <a:solidFill>
                  <a:srgbClr val="FFFFFF"/>
                </a:solidFill>
              </a:rPr>
              <a:t>Non-English accuracy</a:t>
            </a:r>
          </a:p>
        </p:txBody>
      </p:sp>
      <p:sp>
        <p:nvSpPr>
          <p:cNvPr id="14" name="TextBox 13"/>
          <p:cNvSpPr txBox="1"/>
          <p:nvPr/>
        </p:nvSpPr>
        <p:spPr>
          <a:xfrm>
            <a:off x="3657600" y="2496312"/>
            <a:ext cx="3840480" cy="420624"/>
          </a:xfrm>
          <a:prstGeom prst="rect">
            <a:avLst/>
          </a:prstGeom>
          <a:noFill/>
        </p:spPr>
        <p:txBody>
          <a:bodyPr wrap="square">
            <a:spAutoFit/>
          </a:bodyPr>
          <a:lstStyle/>
          <a:p>
            <a:pPr algn="l"/>
            <a:r>
              <a:rPr sz="1400" b="0" i="0">
                <a:solidFill>
                  <a:srgbClr val="FFFFFF"/>
                </a:solidFill>
              </a:rPr>
              <a:t>✅ Better</a:t>
            </a:r>
          </a:p>
        </p:txBody>
      </p:sp>
      <p:sp>
        <p:nvSpPr>
          <p:cNvPr id="15" name="TextBox 14"/>
          <p:cNvSpPr txBox="1"/>
          <p:nvPr/>
        </p:nvSpPr>
        <p:spPr>
          <a:xfrm>
            <a:off x="7726679" y="2496312"/>
            <a:ext cx="3840480" cy="420624"/>
          </a:xfrm>
          <a:prstGeom prst="rect">
            <a:avLst/>
          </a:prstGeom>
          <a:noFill/>
        </p:spPr>
        <p:txBody>
          <a:bodyPr wrap="square">
            <a:spAutoFit/>
          </a:bodyPr>
          <a:lstStyle/>
          <a:p>
            <a:pPr algn="l"/>
            <a:r>
              <a:rPr sz="1400" b="0" i="0">
                <a:solidFill>
                  <a:srgbClr val="FFFFFF"/>
                </a:solidFill>
              </a:rPr>
              <a:t>⚠️  Weaker</a:t>
            </a:r>
          </a:p>
        </p:txBody>
      </p:sp>
      <p:sp>
        <p:nvSpPr>
          <p:cNvPr id="16" name="Rectangle 15"/>
          <p:cNvSpPr/>
          <p:nvPr/>
        </p:nvSpPr>
        <p:spPr>
          <a:xfrm>
            <a:off x="548640" y="2999232"/>
            <a:ext cx="11064240" cy="512064"/>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44952"/>
            <a:ext cx="2834640" cy="420624"/>
          </a:xfrm>
          <a:prstGeom prst="rect">
            <a:avLst/>
          </a:prstGeom>
          <a:noFill/>
        </p:spPr>
        <p:txBody>
          <a:bodyPr wrap="square">
            <a:spAutoFit/>
          </a:bodyPr>
          <a:lstStyle/>
          <a:p>
            <a:pPr algn="l"/>
            <a:r>
              <a:rPr sz="1400" b="0" i="0">
                <a:solidFill>
                  <a:srgbClr val="FFFFFF"/>
                </a:solidFill>
              </a:rPr>
              <a:t>Setup / prep time</a:t>
            </a:r>
          </a:p>
        </p:txBody>
      </p:sp>
      <p:sp>
        <p:nvSpPr>
          <p:cNvPr id="18" name="TextBox 17"/>
          <p:cNvSpPr txBox="1"/>
          <p:nvPr/>
        </p:nvSpPr>
        <p:spPr>
          <a:xfrm>
            <a:off x="3657600" y="3044952"/>
            <a:ext cx="3840480" cy="420624"/>
          </a:xfrm>
          <a:prstGeom prst="rect">
            <a:avLst/>
          </a:prstGeom>
          <a:noFill/>
        </p:spPr>
        <p:txBody>
          <a:bodyPr wrap="square">
            <a:spAutoFit/>
          </a:bodyPr>
          <a:lstStyle/>
          <a:p>
            <a:pPr algn="l"/>
            <a:r>
              <a:rPr sz="1400" b="0" i="0">
                <a:solidFill>
                  <a:srgbClr val="FFFFFF"/>
                </a:solidFill>
              </a:rPr>
              <a:t>❌ High</a:t>
            </a:r>
          </a:p>
        </p:txBody>
      </p:sp>
      <p:sp>
        <p:nvSpPr>
          <p:cNvPr id="19" name="TextBox 18"/>
          <p:cNvSpPr txBox="1"/>
          <p:nvPr/>
        </p:nvSpPr>
        <p:spPr>
          <a:xfrm>
            <a:off x="7726679" y="3044952"/>
            <a:ext cx="3840480" cy="420624"/>
          </a:xfrm>
          <a:prstGeom prst="rect">
            <a:avLst/>
          </a:prstGeom>
          <a:noFill/>
        </p:spPr>
        <p:txBody>
          <a:bodyPr wrap="square">
            <a:spAutoFit/>
          </a:bodyPr>
          <a:lstStyle/>
          <a:p>
            <a:pPr algn="l"/>
            <a:r>
              <a:rPr sz="1400" b="0" i="0">
                <a:solidFill>
                  <a:srgbClr val="FFFFFF"/>
                </a:solidFill>
              </a:rPr>
              <a:t>✅ Low</a:t>
            </a:r>
          </a:p>
        </p:txBody>
      </p:sp>
      <p:sp>
        <p:nvSpPr>
          <p:cNvPr id="20" name="Rectangle 19"/>
          <p:cNvSpPr/>
          <p:nvPr/>
        </p:nvSpPr>
        <p:spPr>
          <a:xfrm>
            <a:off x="548640" y="3547872"/>
            <a:ext cx="11064240" cy="512064"/>
          </a:xfrm>
          <a:prstGeom prst="rect">
            <a:avLst/>
          </a:prstGeom>
          <a:solidFill>
            <a:srgbClr val="202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93592"/>
            <a:ext cx="2834640" cy="420624"/>
          </a:xfrm>
          <a:prstGeom prst="rect">
            <a:avLst/>
          </a:prstGeom>
          <a:noFill/>
        </p:spPr>
        <p:txBody>
          <a:bodyPr wrap="square">
            <a:spAutoFit/>
          </a:bodyPr>
          <a:lstStyle/>
          <a:p>
            <a:pPr algn="l"/>
            <a:r>
              <a:rPr sz="1400" b="0" i="0">
                <a:solidFill>
                  <a:srgbClr val="FFFFFF"/>
                </a:solidFill>
              </a:rPr>
              <a:t>Cost per page</a:t>
            </a:r>
          </a:p>
        </p:txBody>
      </p:sp>
      <p:sp>
        <p:nvSpPr>
          <p:cNvPr id="22" name="TextBox 21"/>
          <p:cNvSpPr txBox="1"/>
          <p:nvPr/>
        </p:nvSpPr>
        <p:spPr>
          <a:xfrm>
            <a:off x="3657600" y="3593592"/>
            <a:ext cx="3840480" cy="420624"/>
          </a:xfrm>
          <a:prstGeom prst="rect">
            <a:avLst/>
          </a:prstGeom>
          <a:noFill/>
        </p:spPr>
        <p:txBody>
          <a:bodyPr wrap="square">
            <a:spAutoFit/>
          </a:bodyPr>
          <a:lstStyle/>
          <a:p>
            <a:pPr algn="l"/>
            <a:r>
              <a:rPr sz="1400" b="0" i="0">
                <a:solidFill>
                  <a:srgbClr val="FFFFFF"/>
                </a:solidFill>
              </a:rPr>
              <a:t>💲 Moderate</a:t>
            </a:r>
          </a:p>
        </p:txBody>
      </p:sp>
      <p:sp>
        <p:nvSpPr>
          <p:cNvPr id="23" name="TextBox 22"/>
          <p:cNvSpPr txBox="1"/>
          <p:nvPr/>
        </p:nvSpPr>
        <p:spPr>
          <a:xfrm>
            <a:off x="7726679" y="3593592"/>
            <a:ext cx="3840480" cy="420624"/>
          </a:xfrm>
          <a:prstGeom prst="rect">
            <a:avLst/>
          </a:prstGeom>
          <a:noFill/>
        </p:spPr>
        <p:txBody>
          <a:bodyPr wrap="square">
            <a:spAutoFit/>
          </a:bodyPr>
          <a:lstStyle/>
          <a:p>
            <a:pPr algn="l"/>
            <a:r>
              <a:rPr sz="1400" b="0" i="0">
                <a:solidFill>
                  <a:srgbClr val="FFFFFF"/>
                </a:solidFill>
              </a:rPr>
              <a:t>💲💲 Higher</a:t>
            </a:r>
          </a:p>
        </p:txBody>
      </p:sp>
      <p:sp>
        <p:nvSpPr>
          <p:cNvPr id="24" name="Rectangle 23"/>
          <p:cNvSpPr/>
          <p:nvPr/>
        </p:nvSpPr>
        <p:spPr>
          <a:xfrm>
            <a:off x="548640" y="4096512"/>
            <a:ext cx="11064240" cy="512064"/>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142232"/>
            <a:ext cx="2834640" cy="420624"/>
          </a:xfrm>
          <a:prstGeom prst="rect">
            <a:avLst/>
          </a:prstGeom>
          <a:noFill/>
        </p:spPr>
        <p:txBody>
          <a:bodyPr wrap="square">
            <a:spAutoFit/>
          </a:bodyPr>
          <a:lstStyle/>
          <a:p>
            <a:pPr algn="l"/>
            <a:r>
              <a:rPr sz="1400" b="0" i="0">
                <a:solidFill>
                  <a:srgbClr val="FFFFFF"/>
                </a:solidFill>
              </a:rPr>
              <a:t>Flexibility / iteration</a:t>
            </a:r>
          </a:p>
        </p:txBody>
      </p:sp>
      <p:sp>
        <p:nvSpPr>
          <p:cNvPr id="26" name="TextBox 25"/>
          <p:cNvSpPr txBox="1"/>
          <p:nvPr/>
        </p:nvSpPr>
        <p:spPr>
          <a:xfrm>
            <a:off x="3657600" y="4142232"/>
            <a:ext cx="3840480" cy="420624"/>
          </a:xfrm>
          <a:prstGeom prst="rect">
            <a:avLst/>
          </a:prstGeom>
          <a:noFill/>
        </p:spPr>
        <p:txBody>
          <a:bodyPr wrap="square">
            <a:spAutoFit/>
          </a:bodyPr>
          <a:lstStyle/>
          <a:p>
            <a:pPr algn="l"/>
            <a:r>
              <a:rPr sz="1400" b="0" i="0">
                <a:solidFill>
                  <a:srgbClr val="FFFFFF"/>
                </a:solidFill>
              </a:rPr>
              <a:t>⚠️  Limited</a:t>
            </a:r>
          </a:p>
        </p:txBody>
      </p:sp>
      <p:sp>
        <p:nvSpPr>
          <p:cNvPr id="27" name="TextBox 26"/>
          <p:cNvSpPr txBox="1"/>
          <p:nvPr/>
        </p:nvSpPr>
        <p:spPr>
          <a:xfrm>
            <a:off x="7726679" y="4142232"/>
            <a:ext cx="3840480" cy="420624"/>
          </a:xfrm>
          <a:prstGeom prst="rect">
            <a:avLst/>
          </a:prstGeom>
          <a:noFill/>
        </p:spPr>
        <p:txBody>
          <a:bodyPr wrap="square">
            <a:spAutoFit/>
          </a:bodyPr>
          <a:lstStyle/>
          <a:p>
            <a:pPr algn="l"/>
            <a:r>
              <a:rPr sz="1400" b="0" i="0">
                <a:solidFill>
                  <a:srgbClr val="FFFFFF"/>
                </a:solidFill>
              </a:rPr>
              <a:t>✅ High</a:t>
            </a:r>
          </a:p>
        </p:txBody>
      </p:sp>
      <p:sp>
        <p:nvSpPr>
          <p:cNvPr id="28" name="Rectangle 27"/>
          <p:cNvSpPr/>
          <p:nvPr/>
        </p:nvSpPr>
        <p:spPr>
          <a:xfrm>
            <a:off x="548640" y="4645152"/>
            <a:ext cx="11064240" cy="512064"/>
          </a:xfrm>
          <a:prstGeom prst="rect">
            <a:avLst/>
          </a:prstGeom>
          <a:solidFill>
            <a:srgbClr val="202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690872"/>
            <a:ext cx="2834640" cy="420624"/>
          </a:xfrm>
          <a:prstGeom prst="rect">
            <a:avLst/>
          </a:prstGeom>
          <a:noFill/>
        </p:spPr>
        <p:txBody>
          <a:bodyPr wrap="square">
            <a:spAutoFit/>
          </a:bodyPr>
          <a:lstStyle/>
          <a:p>
            <a:pPr algn="l"/>
            <a:r>
              <a:rPr sz="1400" b="0" i="0">
                <a:solidFill>
                  <a:srgbClr val="FFFFFF"/>
                </a:solidFill>
              </a:rPr>
              <a:t>Zero-shot capability</a:t>
            </a:r>
          </a:p>
        </p:txBody>
      </p:sp>
      <p:sp>
        <p:nvSpPr>
          <p:cNvPr id="30" name="TextBox 29"/>
          <p:cNvSpPr txBox="1"/>
          <p:nvPr/>
        </p:nvSpPr>
        <p:spPr>
          <a:xfrm>
            <a:off x="3657600" y="4690872"/>
            <a:ext cx="3840480" cy="420624"/>
          </a:xfrm>
          <a:prstGeom prst="rect">
            <a:avLst/>
          </a:prstGeom>
          <a:noFill/>
        </p:spPr>
        <p:txBody>
          <a:bodyPr wrap="square">
            <a:spAutoFit/>
          </a:bodyPr>
          <a:lstStyle/>
          <a:p>
            <a:pPr algn="l"/>
            <a:r>
              <a:rPr sz="1400" b="0" i="0">
                <a:solidFill>
                  <a:srgbClr val="FFFFFF"/>
                </a:solidFill>
              </a:rPr>
              <a:t>❌ Needs training</a:t>
            </a:r>
          </a:p>
        </p:txBody>
      </p:sp>
      <p:sp>
        <p:nvSpPr>
          <p:cNvPr id="31" name="TextBox 30"/>
          <p:cNvSpPr txBox="1"/>
          <p:nvPr/>
        </p:nvSpPr>
        <p:spPr>
          <a:xfrm>
            <a:off x="7726679" y="4690872"/>
            <a:ext cx="3840480" cy="420624"/>
          </a:xfrm>
          <a:prstGeom prst="rect">
            <a:avLst/>
          </a:prstGeom>
          <a:noFill/>
        </p:spPr>
        <p:txBody>
          <a:bodyPr wrap="square">
            <a:spAutoFit/>
          </a:bodyPr>
          <a:lstStyle/>
          <a:p>
            <a:pPr algn="l"/>
            <a:r>
              <a:rPr sz="1400" b="0" i="0">
                <a:solidFill>
                  <a:srgbClr val="FFFFFF"/>
                </a:solidFill>
              </a:rPr>
              <a:t>✅ Works out of the box</a:t>
            </a:r>
          </a:p>
        </p:txBody>
      </p:sp>
      <p:sp>
        <p:nvSpPr>
          <p:cNvPr id="32" name="Rectangle 31"/>
          <p:cNvSpPr/>
          <p:nvPr/>
        </p:nvSpPr>
        <p:spPr>
          <a:xfrm>
            <a:off x="548640" y="5230368"/>
            <a:ext cx="11064240" cy="841248"/>
          </a:xfrm>
          <a:prstGeom prst="rect">
            <a:avLst/>
          </a:prstGeom>
          <a:solidFill>
            <a:srgbClr val="1A2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303520"/>
            <a:ext cx="10515600" cy="694944"/>
          </a:xfrm>
          <a:prstGeom prst="rect">
            <a:avLst/>
          </a:prstGeom>
          <a:noFill/>
        </p:spPr>
        <p:txBody>
          <a:bodyPr wrap="square">
            <a:spAutoFit/>
          </a:bodyPr>
          <a:lstStyle/>
          <a:p>
            <a:pPr algn="l"/>
            <a:r>
              <a:rPr sz="1500" b="0" i="0">
                <a:solidFill>
                  <a:srgbClr val="6AC87A"/>
                </a:solidFill>
              </a:rPr>
              <a:t>📌  Two-shot Claude Sonnet 3.5 on whole-page scans outperformed all tested OCR engines on Belgian historical records  (Kim et al., 2025)</a:t>
            </a:r>
          </a:p>
        </p:txBody>
      </p:sp>
      <p:sp>
        <p:nvSpPr>
          <p:cNvPr id="34" name="TextBox 33"/>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This project has natural sub-teams</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353312"/>
            <a:ext cx="3611880" cy="480060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53312"/>
            <a:ext cx="3611880" cy="164592"/>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64208"/>
            <a:ext cx="914400" cy="713232"/>
          </a:xfrm>
          <a:prstGeom prst="rect">
            <a:avLst/>
          </a:prstGeom>
          <a:noFill/>
        </p:spPr>
        <p:txBody>
          <a:bodyPr wrap="square">
            <a:spAutoFit/>
          </a:bodyPr>
          <a:lstStyle/>
          <a:p>
            <a:pPr algn="l"/>
            <a:r>
              <a:rPr sz="3400" b="0" i="0">
                <a:solidFill>
                  <a:srgbClr val="FFFFFF"/>
                </a:solidFill>
              </a:rPr>
              <a:t>🖥️</a:t>
            </a:r>
          </a:p>
        </p:txBody>
      </p:sp>
      <p:sp>
        <p:nvSpPr>
          <p:cNvPr id="7" name="TextBox 6"/>
          <p:cNvSpPr txBox="1"/>
          <p:nvPr/>
        </p:nvSpPr>
        <p:spPr>
          <a:xfrm>
            <a:off x="731520" y="2487168"/>
            <a:ext cx="3200400" cy="548640"/>
          </a:xfrm>
          <a:prstGeom prst="rect">
            <a:avLst/>
          </a:prstGeom>
          <a:noFill/>
        </p:spPr>
        <p:txBody>
          <a:bodyPr wrap="square">
            <a:spAutoFit/>
          </a:bodyPr>
          <a:lstStyle/>
          <a:p>
            <a:pPr algn="l"/>
            <a:r>
              <a:rPr sz="2100" b="1" i="0">
                <a:solidFill>
                  <a:srgbClr val="E8A830"/>
                </a:solidFill>
              </a:rPr>
              <a:t>The Pipeline</a:t>
            </a:r>
          </a:p>
        </p:txBody>
      </p:sp>
      <p:sp>
        <p:nvSpPr>
          <p:cNvPr id="8" name="TextBox 7"/>
          <p:cNvSpPr txBox="1"/>
          <p:nvPr/>
        </p:nvSpPr>
        <p:spPr>
          <a:xfrm>
            <a:off x="731520" y="3154680"/>
            <a:ext cx="3200400" cy="2651760"/>
          </a:xfrm>
          <a:prstGeom prst="rect">
            <a:avLst/>
          </a:prstGeom>
          <a:noFill/>
        </p:spPr>
        <p:txBody>
          <a:bodyPr wrap="square">
            <a:spAutoFit/>
          </a:bodyPr>
          <a:lstStyle/>
          <a:p>
            <a:pPr algn="l"/>
            <a:r>
              <a:rPr sz="1700" b="0" i="0">
                <a:solidFill>
                  <a:srgbClr val="D4D8E8"/>
                </a:solidFill>
              </a:rPr>
              <a:t>Model routing · API integration
Batch processing
Prompt engineering</a:t>
            </a:r>
          </a:p>
        </p:txBody>
      </p:sp>
      <p:sp>
        <p:nvSpPr>
          <p:cNvPr id="9" name="Rectangle 8"/>
          <p:cNvSpPr/>
          <p:nvPr/>
        </p:nvSpPr>
        <p:spPr>
          <a:xfrm>
            <a:off x="4407407" y="1353312"/>
            <a:ext cx="3611880" cy="480060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07407" y="1353312"/>
            <a:ext cx="3611880" cy="164592"/>
          </a:xfrm>
          <a:prstGeom prst="rect">
            <a:avLst/>
          </a:prstGeom>
          <a:solidFill>
            <a:srgbClr val="6AC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7" y="1664208"/>
            <a:ext cx="914400" cy="713232"/>
          </a:xfrm>
          <a:prstGeom prst="rect">
            <a:avLst/>
          </a:prstGeom>
          <a:noFill/>
        </p:spPr>
        <p:txBody>
          <a:bodyPr wrap="square">
            <a:spAutoFit/>
          </a:bodyPr>
          <a:lstStyle/>
          <a:p>
            <a:pPr algn="l"/>
            <a:r>
              <a:rPr sz="3400" b="0" i="0">
                <a:solidFill>
                  <a:srgbClr val="FFFFFF"/>
                </a:solidFill>
              </a:rPr>
              <a:t>🎨</a:t>
            </a:r>
          </a:p>
        </p:txBody>
      </p:sp>
      <p:sp>
        <p:nvSpPr>
          <p:cNvPr id="12" name="TextBox 11"/>
          <p:cNvSpPr txBox="1"/>
          <p:nvPr/>
        </p:nvSpPr>
        <p:spPr>
          <a:xfrm>
            <a:off x="4590287" y="2487168"/>
            <a:ext cx="3200400" cy="548640"/>
          </a:xfrm>
          <a:prstGeom prst="rect">
            <a:avLst/>
          </a:prstGeom>
          <a:noFill/>
        </p:spPr>
        <p:txBody>
          <a:bodyPr wrap="square">
            <a:spAutoFit/>
          </a:bodyPr>
          <a:lstStyle/>
          <a:p>
            <a:pPr algn="l"/>
            <a:r>
              <a:rPr sz="2100" b="1" i="0">
                <a:solidFill>
                  <a:srgbClr val="6AC8A0"/>
                </a:solidFill>
              </a:rPr>
              <a:t>The Interface</a:t>
            </a:r>
          </a:p>
        </p:txBody>
      </p:sp>
      <p:sp>
        <p:nvSpPr>
          <p:cNvPr id="13" name="TextBox 12"/>
          <p:cNvSpPr txBox="1"/>
          <p:nvPr/>
        </p:nvSpPr>
        <p:spPr>
          <a:xfrm>
            <a:off x="4590287" y="3154680"/>
            <a:ext cx="3200400" cy="2651760"/>
          </a:xfrm>
          <a:prstGeom prst="rect">
            <a:avLst/>
          </a:prstGeom>
          <a:noFill/>
        </p:spPr>
        <p:txBody>
          <a:bodyPr wrap="square">
            <a:spAutoFit/>
          </a:bodyPr>
          <a:lstStyle/>
          <a:p>
            <a:pPr algn="l"/>
            <a:r>
              <a:rPr sz="1700" b="0" i="0">
                <a:solidFill>
                  <a:srgbClr val="D4D8E8"/>
                </a:solidFill>
              </a:rPr>
              <a:t>Editing UI · Confidence heat map
UX design
Visualization</a:t>
            </a:r>
          </a:p>
        </p:txBody>
      </p:sp>
      <p:sp>
        <p:nvSpPr>
          <p:cNvPr id="14" name="Rectangle 13"/>
          <p:cNvSpPr/>
          <p:nvPr/>
        </p:nvSpPr>
        <p:spPr>
          <a:xfrm>
            <a:off x="8266175" y="1353312"/>
            <a:ext cx="3611880" cy="480060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6175" y="1353312"/>
            <a:ext cx="3611880" cy="164592"/>
          </a:xfrm>
          <a:prstGeom prst="rect">
            <a:avLst/>
          </a:prstGeom>
          <a:solidFill>
            <a:srgbClr val="7A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49055" y="1664208"/>
            <a:ext cx="914400" cy="713232"/>
          </a:xfrm>
          <a:prstGeom prst="rect">
            <a:avLst/>
          </a:prstGeom>
          <a:noFill/>
        </p:spPr>
        <p:txBody>
          <a:bodyPr wrap="square">
            <a:spAutoFit/>
          </a:bodyPr>
          <a:lstStyle/>
          <a:p>
            <a:pPr algn="l"/>
            <a:r>
              <a:rPr sz="3400" b="0" i="0">
                <a:solidFill>
                  <a:srgbClr val="FFFFFF"/>
                </a:solidFill>
              </a:rPr>
              <a:t>🧪</a:t>
            </a:r>
          </a:p>
        </p:txBody>
      </p:sp>
      <p:sp>
        <p:nvSpPr>
          <p:cNvPr id="17" name="TextBox 16"/>
          <p:cNvSpPr txBox="1"/>
          <p:nvPr/>
        </p:nvSpPr>
        <p:spPr>
          <a:xfrm>
            <a:off x="8449055" y="2487168"/>
            <a:ext cx="3200400" cy="548640"/>
          </a:xfrm>
          <a:prstGeom prst="rect">
            <a:avLst/>
          </a:prstGeom>
          <a:noFill/>
        </p:spPr>
        <p:txBody>
          <a:bodyPr wrap="square">
            <a:spAutoFit/>
          </a:bodyPr>
          <a:lstStyle/>
          <a:p>
            <a:pPr algn="l"/>
            <a:r>
              <a:rPr sz="2100" b="1" i="0">
                <a:solidFill>
                  <a:srgbClr val="7AA8E8"/>
                </a:solidFill>
              </a:rPr>
              <a:t>The Evaluator</a:t>
            </a:r>
          </a:p>
        </p:txBody>
      </p:sp>
      <p:sp>
        <p:nvSpPr>
          <p:cNvPr id="18" name="TextBox 17"/>
          <p:cNvSpPr txBox="1"/>
          <p:nvPr/>
        </p:nvSpPr>
        <p:spPr>
          <a:xfrm>
            <a:off x="8449055" y="3154680"/>
            <a:ext cx="3200400" cy="2651760"/>
          </a:xfrm>
          <a:prstGeom prst="rect">
            <a:avLst/>
          </a:prstGeom>
          <a:noFill/>
        </p:spPr>
        <p:txBody>
          <a:bodyPr wrap="square">
            <a:spAutoFit/>
          </a:bodyPr>
          <a:lstStyle/>
          <a:p>
            <a:pPr algn="l"/>
            <a:r>
              <a:rPr sz="1700" b="0" i="0">
                <a:solidFill>
                  <a:srgbClr val="D4D8E8"/>
                </a:solidFill>
              </a:rPr>
              <a:t>Benchmark framework
CER / WER / BLEU scoring
Model comparison reports</a:t>
            </a:r>
          </a:p>
        </p:txBody>
      </p:sp>
      <p:sp>
        <p:nvSpPr>
          <p:cNvPr id="19" name="TextBox 18"/>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If you want to go further...</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64240" cy="594360"/>
          </a:xfrm>
          <a:prstGeom prst="rect">
            <a:avLst/>
          </a:prstGeom>
          <a:noFill/>
        </p:spPr>
        <p:txBody>
          <a:bodyPr wrap="square">
            <a:spAutoFit/>
          </a:bodyPr>
          <a:lstStyle/>
          <a:p>
            <a:pPr algn="ctr"/>
            <a:r>
              <a:rPr sz="2400" b="1" i="0">
                <a:solidFill>
                  <a:srgbClr val="FFFFFF"/>
                </a:solidFill>
              </a:rPr>
              <a:t>🚀  Stretch Goals</a:t>
            </a:r>
          </a:p>
        </p:txBody>
      </p:sp>
      <p:sp>
        <p:nvSpPr>
          <p:cNvPr id="5" name="Rectangle 4"/>
          <p:cNvSpPr/>
          <p:nvPr/>
        </p:nvSpPr>
        <p:spPr>
          <a:xfrm>
            <a:off x="548640" y="2103120"/>
            <a:ext cx="11064240" cy="123444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395728"/>
            <a:ext cx="640080" cy="594360"/>
          </a:xfrm>
          <a:prstGeom prst="rect">
            <a:avLst/>
          </a:prstGeom>
          <a:noFill/>
        </p:spPr>
        <p:txBody>
          <a:bodyPr wrap="square">
            <a:spAutoFit/>
          </a:bodyPr>
          <a:lstStyle/>
          <a:p>
            <a:pPr algn="l"/>
            <a:r>
              <a:rPr sz="2600" b="0" i="0">
                <a:solidFill>
                  <a:srgbClr val="FFFFFF"/>
                </a:solidFill>
              </a:rPr>
              <a:t>🔬</a:t>
            </a:r>
          </a:p>
        </p:txBody>
      </p:sp>
      <p:sp>
        <p:nvSpPr>
          <p:cNvPr id="7" name="TextBox 6"/>
          <p:cNvSpPr txBox="1"/>
          <p:nvPr/>
        </p:nvSpPr>
        <p:spPr>
          <a:xfrm>
            <a:off x="1536192" y="2194560"/>
            <a:ext cx="3657600" cy="457200"/>
          </a:xfrm>
          <a:prstGeom prst="rect">
            <a:avLst/>
          </a:prstGeom>
          <a:noFill/>
        </p:spPr>
        <p:txBody>
          <a:bodyPr wrap="square">
            <a:spAutoFit/>
          </a:bodyPr>
          <a:lstStyle/>
          <a:p>
            <a:pPr algn="l"/>
            <a:r>
              <a:rPr sz="1800" b="1" i="0">
                <a:solidFill>
                  <a:srgbClr val="E8A830"/>
                </a:solidFill>
              </a:rPr>
              <a:t>Fine-tune a local model</a:t>
            </a:r>
          </a:p>
        </p:txBody>
      </p:sp>
      <p:sp>
        <p:nvSpPr>
          <p:cNvPr id="8" name="TextBox 7"/>
          <p:cNvSpPr txBox="1"/>
          <p:nvPr/>
        </p:nvSpPr>
        <p:spPr>
          <a:xfrm>
            <a:off x="1536192" y="2651760"/>
            <a:ext cx="9326880" cy="594360"/>
          </a:xfrm>
          <a:prstGeom prst="rect">
            <a:avLst/>
          </a:prstGeom>
          <a:noFill/>
        </p:spPr>
        <p:txBody>
          <a:bodyPr wrap="square">
            <a:spAutoFit/>
          </a:bodyPr>
          <a:lstStyle/>
          <a:p>
            <a:pPr algn="l"/>
            <a:r>
              <a:rPr sz="1500" b="0" i="0">
                <a:solidFill>
                  <a:srgbClr val="D4D8E8"/>
                </a:solidFill>
              </a:rPr>
              <a:t>Build a growing corpus of corrected transcriptions and use it to fine-tune an open-source model. Potentially publication-worthy.</a:t>
            </a:r>
          </a:p>
        </p:txBody>
      </p:sp>
      <p:sp>
        <p:nvSpPr>
          <p:cNvPr id="9" name="Rectangle 8"/>
          <p:cNvSpPr/>
          <p:nvPr/>
        </p:nvSpPr>
        <p:spPr>
          <a:xfrm>
            <a:off x="548640" y="3520439"/>
            <a:ext cx="11064240" cy="123444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813047"/>
            <a:ext cx="640080" cy="594360"/>
          </a:xfrm>
          <a:prstGeom prst="rect">
            <a:avLst/>
          </a:prstGeom>
          <a:noFill/>
        </p:spPr>
        <p:txBody>
          <a:bodyPr wrap="square">
            <a:spAutoFit/>
          </a:bodyPr>
          <a:lstStyle/>
          <a:p>
            <a:pPr algn="l"/>
            <a:r>
              <a:rPr sz="2600" b="0" i="0">
                <a:solidFill>
                  <a:srgbClr val="FFFFFF"/>
                </a:solidFill>
              </a:rPr>
              <a:t>🌍</a:t>
            </a:r>
          </a:p>
        </p:txBody>
      </p:sp>
      <p:sp>
        <p:nvSpPr>
          <p:cNvPr id="11" name="TextBox 10"/>
          <p:cNvSpPr txBox="1"/>
          <p:nvPr/>
        </p:nvSpPr>
        <p:spPr>
          <a:xfrm>
            <a:off x="1536192" y="3611879"/>
            <a:ext cx="3657600" cy="457200"/>
          </a:xfrm>
          <a:prstGeom prst="rect">
            <a:avLst/>
          </a:prstGeom>
          <a:noFill/>
        </p:spPr>
        <p:txBody>
          <a:bodyPr wrap="square">
            <a:spAutoFit/>
          </a:bodyPr>
          <a:lstStyle/>
          <a:p>
            <a:pPr algn="l"/>
            <a:r>
              <a:rPr sz="1800" b="1" i="0">
                <a:solidFill>
                  <a:srgbClr val="E8A830"/>
                </a:solidFill>
              </a:rPr>
              <a:t>Multilingual support</a:t>
            </a:r>
          </a:p>
        </p:txBody>
      </p:sp>
      <p:sp>
        <p:nvSpPr>
          <p:cNvPr id="12" name="TextBox 11"/>
          <p:cNvSpPr txBox="1"/>
          <p:nvPr/>
        </p:nvSpPr>
        <p:spPr>
          <a:xfrm>
            <a:off x="1536192" y="4069079"/>
            <a:ext cx="9326880" cy="594360"/>
          </a:xfrm>
          <a:prstGeom prst="rect">
            <a:avLst/>
          </a:prstGeom>
          <a:noFill/>
        </p:spPr>
        <p:txBody>
          <a:bodyPr wrap="square">
            <a:spAutoFit/>
          </a:bodyPr>
          <a:lstStyle/>
          <a:p>
            <a:pPr algn="l"/>
            <a:r>
              <a:rPr sz="1500" b="0" i="0">
                <a:solidFill>
                  <a:srgbClr val="D4D8E8"/>
                </a:solidFill>
              </a:rPr>
              <a:t>Most tools default to English. Demonstrating improved accuracy on French, Spanish, or Latin would address a genuine research gap.</a:t>
            </a:r>
          </a:p>
        </p:txBody>
      </p:sp>
      <p:sp>
        <p:nvSpPr>
          <p:cNvPr id="13" name="Rectangle 12"/>
          <p:cNvSpPr/>
          <p:nvPr/>
        </p:nvSpPr>
        <p:spPr>
          <a:xfrm>
            <a:off x="548640" y="4937760"/>
            <a:ext cx="11064240" cy="123444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5230368"/>
            <a:ext cx="640080" cy="594360"/>
          </a:xfrm>
          <a:prstGeom prst="rect">
            <a:avLst/>
          </a:prstGeom>
          <a:noFill/>
        </p:spPr>
        <p:txBody>
          <a:bodyPr wrap="square">
            <a:spAutoFit/>
          </a:bodyPr>
          <a:lstStyle/>
          <a:p>
            <a:pPr algn="l"/>
            <a:r>
              <a:rPr sz="2600" b="0" i="0">
                <a:solidFill>
                  <a:srgbClr val="FFFFFF"/>
                </a:solidFill>
              </a:rPr>
              <a:t>🤝</a:t>
            </a:r>
          </a:p>
        </p:txBody>
      </p:sp>
      <p:sp>
        <p:nvSpPr>
          <p:cNvPr id="15" name="TextBox 14"/>
          <p:cNvSpPr txBox="1"/>
          <p:nvPr/>
        </p:nvSpPr>
        <p:spPr>
          <a:xfrm>
            <a:off x="1536192" y="5029200"/>
            <a:ext cx="3657600" cy="457200"/>
          </a:xfrm>
          <a:prstGeom prst="rect">
            <a:avLst/>
          </a:prstGeom>
          <a:noFill/>
        </p:spPr>
        <p:txBody>
          <a:bodyPr wrap="square">
            <a:spAutoFit/>
          </a:bodyPr>
          <a:lstStyle/>
          <a:p>
            <a:pPr algn="l"/>
            <a:r>
              <a:rPr sz="1800" b="1" i="0">
                <a:solidFill>
                  <a:srgbClr val="E8A830"/>
                </a:solidFill>
              </a:rPr>
              <a:t>Connect to real archives</a:t>
            </a:r>
          </a:p>
        </p:txBody>
      </p:sp>
      <p:sp>
        <p:nvSpPr>
          <p:cNvPr id="16" name="TextBox 15"/>
          <p:cNvSpPr txBox="1"/>
          <p:nvPr/>
        </p:nvSpPr>
        <p:spPr>
          <a:xfrm>
            <a:off x="1536192" y="5486400"/>
            <a:ext cx="9326880" cy="594360"/>
          </a:xfrm>
          <a:prstGeom prst="rect">
            <a:avLst/>
          </a:prstGeom>
          <a:noFill/>
        </p:spPr>
        <p:txBody>
          <a:bodyPr wrap="square">
            <a:spAutoFit/>
          </a:bodyPr>
          <a:lstStyle/>
          <a:p>
            <a:pPr algn="l"/>
            <a:r>
              <a:rPr sz="1500" b="0" i="0">
                <a:solidFill>
                  <a:srgbClr val="D4D8E8"/>
                </a:solidFill>
              </a:rPr>
              <a:t>Integrate with archival databases or digitization pipelines so historians can use the tool directly on their own collections.</a:t>
            </a:r>
          </a:p>
        </p:txBody>
      </p:sp>
      <p:sp>
        <p:nvSpPr>
          <p:cNvPr id="17" name="TextBox 16"/>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The stack</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8448"/>
            <a:ext cx="164592" cy="822960"/>
          </a:xfrm>
          <a:prstGeom prst="rect">
            <a:avLst/>
          </a:prstGeom>
          <a:solidFill>
            <a:srgbClr val="E8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298448"/>
            <a:ext cx="10908792"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2011680" cy="411480"/>
          </a:xfrm>
          <a:prstGeom prst="rect">
            <a:avLst/>
          </a:prstGeom>
          <a:noFill/>
        </p:spPr>
        <p:txBody>
          <a:bodyPr wrap="square">
            <a:spAutoFit/>
          </a:bodyPr>
          <a:lstStyle/>
          <a:p>
            <a:pPr algn="l"/>
            <a:r>
              <a:rPr sz="1700" b="1" i="0">
                <a:solidFill>
                  <a:srgbClr val="E87A7A"/>
                </a:solidFill>
              </a:rPr>
              <a:t>Data</a:t>
            </a:r>
          </a:p>
        </p:txBody>
      </p:sp>
      <p:sp>
        <p:nvSpPr>
          <p:cNvPr id="7" name="TextBox 6"/>
          <p:cNvSpPr txBox="1"/>
          <p:nvPr/>
        </p:nvSpPr>
        <p:spPr>
          <a:xfrm>
            <a:off x="3108960" y="1481328"/>
            <a:ext cx="8321040" cy="420624"/>
          </a:xfrm>
          <a:prstGeom prst="rect">
            <a:avLst/>
          </a:prstGeom>
          <a:noFill/>
        </p:spPr>
        <p:txBody>
          <a:bodyPr wrap="square">
            <a:spAutoFit/>
          </a:bodyPr>
          <a:lstStyle/>
          <a:p>
            <a:pPr algn="l"/>
            <a:r>
              <a:rPr sz="1500" b="0" i="0">
                <a:solidFill>
                  <a:srgbClr val="D4D8E8"/>
                </a:solidFill>
              </a:rPr>
              <a:t>HTR-United open datasets · growing corrected-transcription corpus</a:t>
            </a:r>
          </a:p>
        </p:txBody>
      </p:sp>
      <p:sp>
        <p:nvSpPr>
          <p:cNvPr id="8" name="Rectangle 7"/>
          <p:cNvSpPr/>
          <p:nvPr/>
        </p:nvSpPr>
        <p:spPr>
          <a:xfrm>
            <a:off x="548640" y="2231136"/>
            <a:ext cx="164592" cy="822960"/>
          </a:xfrm>
          <a:prstGeom prst="rect">
            <a:avLst/>
          </a:prstGeom>
          <a:solidFill>
            <a:srgbClr val="D47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2231136"/>
            <a:ext cx="10908792"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04288"/>
            <a:ext cx="2011680" cy="411480"/>
          </a:xfrm>
          <a:prstGeom prst="rect">
            <a:avLst/>
          </a:prstGeom>
          <a:noFill/>
        </p:spPr>
        <p:txBody>
          <a:bodyPr wrap="square">
            <a:spAutoFit/>
          </a:bodyPr>
          <a:lstStyle/>
          <a:p>
            <a:pPr algn="l"/>
            <a:r>
              <a:rPr sz="1700" b="1" i="0">
                <a:solidFill>
                  <a:srgbClr val="D47AC8"/>
                </a:solidFill>
              </a:rPr>
              <a:t>Evaluation</a:t>
            </a:r>
          </a:p>
        </p:txBody>
      </p:sp>
      <p:sp>
        <p:nvSpPr>
          <p:cNvPr id="11" name="TextBox 10"/>
          <p:cNvSpPr txBox="1"/>
          <p:nvPr/>
        </p:nvSpPr>
        <p:spPr>
          <a:xfrm>
            <a:off x="3108960" y="2414016"/>
            <a:ext cx="8321040" cy="420624"/>
          </a:xfrm>
          <a:prstGeom prst="rect">
            <a:avLst/>
          </a:prstGeom>
          <a:noFill/>
        </p:spPr>
        <p:txBody>
          <a:bodyPr wrap="square">
            <a:spAutoFit/>
          </a:bodyPr>
          <a:lstStyle/>
          <a:p>
            <a:pPr algn="l"/>
            <a:r>
              <a:rPr sz="1500" b="0" i="0">
                <a:solidFill>
                  <a:srgbClr val="D4D8E8"/>
                </a:solidFill>
              </a:rPr>
              <a:t>Custom benchmark harness · CER / WER / BLEU scoring</a:t>
            </a:r>
          </a:p>
        </p:txBody>
      </p:sp>
      <p:sp>
        <p:nvSpPr>
          <p:cNvPr id="12" name="Rectangle 11"/>
          <p:cNvSpPr/>
          <p:nvPr/>
        </p:nvSpPr>
        <p:spPr>
          <a:xfrm>
            <a:off x="548640" y="3163824"/>
            <a:ext cx="164592" cy="822960"/>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3163824"/>
            <a:ext cx="10908792"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236976"/>
            <a:ext cx="2011680" cy="411480"/>
          </a:xfrm>
          <a:prstGeom prst="rect">
            <a:avLst/>
          </a:prstGeom>
          <a:noFill/>
        </p:spPr>
        <p:txBody>
          <a:bodyPr wrap="square">
            <a:spAutoFit/>
          </a:bodyPr>
          <a:lstStyle/>
          <a:p>
            <a:pPr algn="l"/>
            <a:r>
              <a:rPr sz="1700" b="1" i="0">
                <a:solidFill>
                  <a:srgbClr val="E8A830"/>
                </a:solidFill>
              </a:rPr>
              <a:t>Models</a:t>
            </a:r>
          </a:p>
        </p:txBody>
      </p:sp>
      <p:sp>
        <p:nvSpPr>
          <p:cNvPr id="15" name="TextBox 14"/>
          <p:cNvSpPr txBox="1"/>
          <p:nvPr/>
        </p:nvSpPr>
        <p:spPr>
          <a:xfrm>
            <a:off x="3108960" y="3346704"/>
            <a:ext cx="8321040" cy="420624"/>
          </a:xfrm>
          <a:prstGeom prst="rect">
            <a:avLst/>
          </a:prstGeom>
          <a:noFill/>
        </p:spPr>
        <p:txBody>
          <a:bodyPr wrap="square">
            <a:spAutoFit/>
          </a:bodyPr>
          <a:lstStyle/>
          <a:p>
            <a:pPr algn="l"/>
            <a:r>
              <a:rPr sz="1500" b="0" i="0">
                <a:solidFill>
                  <a:srgbClr val="D4D8E8"/>
                </a:solidFill>
              </a:rPr>
              <a:t>HuggingFace local models  +  Claude / GPT-4o / Gemini APIs</a:t>
            </a:r>
          </a:p>
        </p:txBody>
      </p:sp>
      <p:sp>
        <p:nvSpPr>
          <p:cNvPr id="16" name="Rectangle 15"/>
          <p:cNvSpPr/>
          <p:nvPr/>
        </p:nvSpPr>
        <p:spPr>
          <a:xfrm>
            <a:off x="548640" y="4096512"/>
            <a:ext cx="164592" cy="822960"/>
          </a:xfrm>
          <a:prstGeom prst="rect">
            <a:avLst/>
          </a:prstGeom>
          <a:solidFill>
            <a:srgbClr val="6AC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4096512"/>
            <a:ext cx="10908792"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169664"/>
            <a:ext cx="2011680" cy="411480"/>
          </a:xfrm>
          <a:prstGeom prst="rect">
            <a:avLst/>
          </a:prstGeom>
          <a:noFill/>
        </p:spPr>
        <p:txBody>
          <a:bodyPr wrap="square">
            <a:spAutoFit/>
          </a:bodyPr>
          <a:lstStyle/>
          <a:p>
            <a:pPr algn="l"/>
            <a:r>
              <a:rPr sz="1700" b="1" i="0">
                <a:solidFill>
                  <a:srgbClr val="6AC8A0"/>
                </a:solidFill>
              </a:rPr>
              <a:t>Backend</a:t>
            </a:r>
          </a:p>
        </p:txBody>
      </p:sp>
      <p:sp>
        <p:nvSpPr>
          <p:cNvPr id="19" name="TextBox 18"/>
          <p:cNvSpPr txBox="1"/>
          <p:nvPr/>
        </p:nvSpPr>
        <p:spPr>
          <a:xfrm>
            <a:off x="3108960" y="4279392"/>
            <a:ext cx="8321040" cy="420624"/>
          </a:xfrm>
          <a:prstGeom prst="rect">
            <a:avLst/>
          </a:prstGeom>
          <a:noFill/>
        </p:spPr>
        <p:txBody>
          <a:bodyPr wrap="square">
            <a:spAutoFit/>
          </a:bodyPr>
          <a:lstStyle/>
          <a:p>
            <a:pPr algn="l"/>
            <a:r>
              <a:rPr sz="1500" b="0" i="0">
                <a:solidFill>
                  <a:srgbClr val="D4D8E8"/>
                </a:solidFill>
              </a:rPr>
              <a:t>Python · FastAPI · job queue for batch processing</a:t>
            </a:r>
          </a:p>
        </p:txBody>
      </p:sp>
      <p:sp>
        <p:nvSpPr>
          <p:cNvPr id="20" name="Rectangle 19"/>
          <p:cNvSpPr/>
          <p:nvPr/>
        </p:nvSpPr>
        <p:spPr>
          <a:xfrm>
            <a:off x="548640" y="5029200"/>
            <a:ext cx="164592" cy="822960"/>
          </a:xfrm>
          <a:prstGeom prst="rect">
            <a:avLst/>
          </a:prstGeom>
          <a:solidFill>
            <a:srgbClr val="7A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5029200"/>
            <a:ext cx="10908792"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102352"/>
            <a:ext cx="2011680" cy="411480"/>
          </a:xfrm>
          <a:prstGeom prst="rect">
            <a:avLst/>
          </a:prstGeom>
          <a:noFill/>
        </p:spPr>
        <p:txBody>
          <a:bodyPr wrap="square">
            <a:spAutoFit/>
          </a:bodyPr>
          <a:lstStyle/>
          <a:p>
            <a:pPr algn="l"/>
            <a:r>
              <a:rPr sz="1700" b="1" i="0">
                <a:solidFill>
                  <a:srgbClr val="7AA8E8"/>
                </a:solidFill>
              </a:rPr>
              <a:t>Frontend</a:t>
            </a:r>
          </a:p>
        </p:txBody>
      </p:sp>
      <p:sp>
        <p:nvSpPr>
          <p:cNvPr id="23" name="TextBox 22"/>
          <p:cNvSpPr txBox="1"/>
          <p:nvPr/>
        </p:nvSpPr>
        <p:spPr>
          <a:xfrm>
            <a:off x="3108960" y="5212080"/>
            <a:ext cx="8321040" cy="420624"/>
          </a:xfrm>
          <a:prstGeom prst="rect">
            <a:avLst/>
          </a:prstGeom>
          <a:noFill/>
        </p:spPr>
        <p:txBody>
          <a:bodyPr wrap="square">
            <a:spAutoFit/>
          </a:bodyPr>
          <a:lstStyle/>
          <a:p>
            <a:pPr algn="l"/>
            <a:r>
              <a:rPr sz="1500" b="0" i="0">
                <a:solidFill>
                  <a:srgbClr val="D4D8E8"/>
                </a:solidFill>
              </a:rPr>
              <a:t>Web UI for upload, viewing, and transcription editing</a:t>
            </a:r>
          </a:p>
        </p:txBody>
      </p:sp>
      <p:sp>
        <p:nvSpPr>
          <p:cNvPr id="24" name="TextBox 23"/>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D1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737360"/>
            <a:ext cx="11064240" cy="822960"/>
          </a:xfrm>
          <a:prstGeom prst="rect">
            <a:avLst/>
          </a:prstGeom>
          <a:noFill/>
        </p:spPr>
        <p:txBody>
          <a:bodyPr wrap="square">
            <a:spAutoFit/>
          </a:bodyPr>
          <a:lstStyle/>
          <a:p>
            <a:pPr algn="ctr"/>
            <a:r>
              <a:rPr sz="4600" b="1" i="0">
                <a:solidFill>
                  <a:srgbClr val="FFFFFF"/>
                </a:solidFill>
              </a:rPr>
              <a:t>The tools exist.</a:t>
            </a:r>
          </a:p>
        </p:txBody>
      </p:sp>
      <p:sp>
        <p:nvSpPr>
          <p:cNvPr id="4" name="Rectangle 3"/>
          <p:cNvSpPr/>
          <p:nvPr/>
        </p:nvSpPr>
        <p:spPr>
          <a:xfrm>
            <a:off x="3200400" y="2633472"/>
            <a:ext cx="5760720" cy="54864"/>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88920"/>
            <a:ext cx="11064240" cy="822960"/>
          </a:xfrm>
          <a:prstGeom prst="rect">
            <a:avLst/>
          </a:prstGeom>
          <a:noFill/>
        </p:spPr>
        <p:txBody>
          <a:bodyPr wrap="square">
            <a:spAutoFit/>
          </a:bodyPr>
          <a:lstStyle/>
          <a:p>
            <a:pPr algn="ctr"/>
            <a:r>
              <a:rPr sz="4600" b="1" i="0">
                <a:solidFill>
                  <a:srgbClr val="FFFFFF"/>
                </a:solidFill>
              </a:rPr>
              <a:t>The need is real.</a:t>
            </a:r>
          </a:p>
        </p:txBody>
      </p:sp>
      <p:sp>
        <p:nvSpPr>
          <p:cNvPr id="6" name="Rectangle 5"/>
          <p:cNvSpPr/>
          <p:nvPr/>
        </p:nvSpPr>
        <p:spPr>
          <a:xfrm>
            <a:off x="3200400" y="3685032"/>
            <a:ext cx="5760720" cy="54864"/>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840480"/>
            <a:ext cx="11064240" cy="822960"/>
          </a:xfrm>
          <a:prstGeom prst="rect">
            <a:avLst/>
          </a:prstGeom>
          <a:noFill/>
        </p:spPr>
        <p:txBody>
          <a:bodyPr wrap="square">
            <a:spAutoFit/>
          </a:bodyPr>
          <a:lstStyle/>
          <a:p>
            <a:pPr algn="ctr"/>
            <a:r>
              <a:rPr sz="4600" b="1" i="0">
                <a:solidFill>
                  <a:srgbClr val="E8A830"/>
                </a:solidFill>
              </a:rPr>
              <a:t>Nobody has built the system.</a:t>
            </a:r>
          </a:p>
        </p:txBody>
      </p:sp>
      <p:sp>
        <p:nvSpPr>
          <p:cNvPr id="8" name="TextBox 7"/>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TextBox 1"/>
          <p:cNvSpPr txBox="1"/>
          <p:nvPr/>
        </p:nvSpPr>
        <p:spPr>
          <a:xfrm>
            <a:off x="548640" y="411480"/>
            <a:ext cx="10972800" cy="685800"/>
          </a:xfrm>
          <a:prstGeom prst="rect">
            <a:avLst/>
          </a:prstGeom>
          <a:noFill/>
        </p:spPr>
        <p:txBody>
          <a:bodyPr wrap="square">
            <a:spAutoFit/>
          </a:bodyPr>
          <a:lstStyle/>
          <a:p>
            <a:pPr algn="l"/>
            <a:r>
              <a:rPr sz="3400" b="1" i="0">
                <a:solidFill>
                  <a:srgbClr val="E8A830"/>
                </a:solidFill>
              </a:rPr>
              <a:t>What you'd walk away with</a:t>
            </a:r>
          </a:p>
        </p:txBody>
      </p:sp>
      <p:sp>
        <p:nvSpPr>
          <p:cNvPr id="3" name="Rectangle 2"/>
          <p:cNvSpPr/>
          <p:nvPr/>
        </p:nvSpPr>
        <p:spPr>
          <a:xfrm>
            <a:off x="548640" y="1115568"/>
            <a:ext cx="11064240" cy="36576"/>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53312"/>
            <a:ext cx="5029200" cy="475488"/>
          </a:xfrm>
          <a:prstGeom prst="rect">
            <a:avLst/>
          </a:prstGeom>
          <a:noFill/>
        </p:spPr>
        <p:txBody>
          <a:bodyPr wrap="square">
            <a:spAutoFit/>
          </a:bodyPr>
          <a:lstStyle/>
          <a:p>
            <a:pPr algn="l"/>
            <a:r>
              <a:rPr sz="1900" b="1" i="0">
                <a:solidFill>
                  <a:srgbClr val="E8A830"/>
                </a:solidFill>
              </a:rPr>
              <a:t>Technical Skills</a:t>
            </a:r>
          </a:p>
        </p:txBody>
      </p:sp>
      <p:sp>
        <p:nvSpPr>
          <p:cNvPr id="5" name="Rectangle 4"/>
          <p:cNvSpPr/>
          <p:nvPr/>
        </p:nvSpPr>
        <p:spPr>
          <a:xfrm>
            <a:off x="640080" y="1874519"/>
            <a:ext cx="5257800"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002535"/>
            <a:ext cx="457200" cy="548640"/>
          </a:xfrm>
          <a:prstGeom prst="rect">
            <a:avLst/>
          </a:prstGeom>
          <a:noFill/>
        </p:spPr>
        <p:txBody>
          <a:bodyPr wrap="square">
            <a:spAutoFit/>
          </a:bodyPr>
          <a:lstStyle/>
          <a:p>
            <a:pPr algn="l"/>
            <a:r>
              <a:rPr sz="2200" b="0" i="0">
                <a:solidFill>
                  <a:srgbClr val="FFFFFF"/>
                </a:solidFill>
              </a:rPr>
              <a:t>🧠</a:t>
            </a:r>
          </a:p>
        </p:txBody>
      </p:sp>
      <p:sp>
        <p:nvSpPr>
          <p:cNvPr id="7" name="TextBox 6"/>
          <p:cNvSpPr txBox="1"/>
          <p:nvPr/>
        </p:nvSpPr>
        <p:spPr>
          <a:xfrm>
            <a:off x="1417320" y="2057399"/>
            <a:ext cx="4297680" cy="457200"/>
          </a:xfrm>
          <a:prstGeom prst="rect">
            <a:avLst/>
          </a:prstGeom>
          <a:noFill/>
        </p:spPr>
        <p:txBody>
          <a:bodyPr wrap="square">
            <a:spAutoFit/>
          </a:bodyPr>
          <a:lstStyle/>
          <a:p>
            <a:pPr algn="l"/>
            <a:r>
              <a:rPr sz="1700" b="0" i="0">
                <a:solidFill>
                  <a:srgbClr val="FFFFFF"/>
                </a:solidFill>
              </a:rPr>
              <a:t>Multimodal LLM integration</a:t>
            </a:r>
          </a:p>
        </p:txBody>
      </p:sp>
      <p:sp>
        <p:nvSpPr>
          <p:cNvPr id="8" name="Rectangle 7"/>
          <p:cNvSpPr/>
          <p:nvPr/>
        </p:nvSpPr>
        <p:spPr>
          <a:xfrm>
            <a:off x="640080" y="2898648"/>
            <a:ext cx="5257800"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026664"/>
            <a:ext cx="457200" cy="548640"/>
          </a:xfrm>
          <a:prstGeom prst="rect">
            <a:avLst/>
          </a:prstGeom>
          <a:noFill/>
        </p:spPr>
        <p:txBody>
          <a:bodyPr wrap="square">
            <a:spAutoFit/>
          </a:bodyPr>
          <a:lstStyle/>
          <a:p>
            <a:pPr algn="l"/>
            <a:r>
              <a:rPr sz="2200" b="0" i="0">
                <a:solidFill>
                  <a:srgbClr val="FFFFFF"/>
                </a:solidFill>
              </a:rPr>
              <a:t>📐</a:t>
            </a:r>
          </a:p>
        </p:txBody>
      </p:sp>
      <p:sp>
        <p:nvSpPr>
          <p:cNvPr id="10" name="TextBox 9"/>
          <p:cNvSpPr txBox="1"/>
          <p:nvPr/>
        </p:nvSpPr>
        <p:spPr>
          <a:xfrm>
            <a:off x="1417320" y="3081528"/>
            <a:ext cx="4297680" cy="457200"/>
          </a:xfrm>
          <a:prstGeom prst="rect">
            <a:avLst/>
          </a:prstGeom>
          <a:noFill/>
        </p:spPr>
        <p:txBody>
          <a:bodyPr wrap="square">
            <a:spAutoFit/>
          </a:bodyPr>
          <a:lstStyle/>
          <a:p>
            <a:pPr algn="l"/>
            <a:r>
              <a:rPr sz="1700" b="0" i="0">
                <a:solidFill>
                  <a:srgbClr val="FFFFFF"/>
                </a:solidFill>
              </a:rPr>
              <a:t>Evaluation framework design</a:t>
            </a:r>
          </a:p>
        </p:txBody>
      </p:sp>
      <p:sp>
        <p:nvSpPr>
          <p:cNvPr id="11" name="Rectangle 10"/>
          <p:cNvSpPr/>
          <p:nvPr/>
        </p:nvSpPr>
        <p:spPr>
          <a:xfrm>
            <a:off x="640080" y="3922776"/>
            <a:ext cx="5257800"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4050792"/>
            <a:ext cx="457200" cy="548640"/>
          </a:xfrm>
          <a:prstGeom prst="rect">
            <a:avLst/>
          </a:prstGeom>
          <a:noFill/>
        </p:spPr>
        <p:txBody>
          <a:bodyPr wrap="square">
            <a:spAutoFit/>
          </a:bodyPr>
          <a:lstStyle/>
          <a:p>
            <a:pPr algn="l"/>
            <a:r>
              <a:rPr sz="2200" b="0" i="0">
                <a:solidFill>
                  <a:srgbClr val="FFFFFF"/>
                </a:solidFill>
              </a:rPr>
              <a:t>🔄</a:t>
            </a:r>
          </a:p>
        </p:txBody>
      </p:sp>
      <p:sp>
        <p:nvSpPr>
          <p:cNvPr id="13" name="TextBox 12"/>
          <p:cNvSpPr txBox="1"/>
          <p:nvPr/>
        </p:nvSpPr>
        <p:spPr>
          <a:xfrm>
            <a:off x="1417320" y="4105656"/>
            <a:ext cx="4297680" cy="457200"/>
          </a:xfrm>
          <a:prstGeom prst="rect">
            <a:avLst/>
          </a:prstGeom>
          <a:noFill/>
        </p:spPr>
        <p:txBody>
          <a:bodyPr wrap="square">
            <a:spAutoFit/>
          </a:bodyPr>
          <a:lstStyle/>
          <a:p>
            <a:pPr algn="l"/>
            <a:r>
              <a:rPr sz="1700" b="0" i="0">
                <a:solidFill>
                  <a:srgbClr val="FFFFFF"/>
                </a:solidFill>
              </a:rPr>
              <a:t>Human-in-the-loop ML systems</a:t>
            </a:r>
          </a:p>
        </p:txBody>
      </p:sp>
      <p:sp>
        <p:nvSpPr>
          <p:cNvPr id="14" name="Rectangle 13"/>
          <p:cNvSpPr/>
          <p:nvPr/>
        </p:nvSpPr>
        <p:spPr>
          <a:xfrm>
            <a:off x="640080" y="4946904"/>
            <a:ext cx="5257800"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074920"/>
            <a:ext cx="457200" cy="548640"/>
          </a:xfrm>
          <a:prstGeom prst="rect">
            <a:avLst/>
          </a:prstGeom>
          <a:noFill/>
        </p:spPr>
        <p:txBody>
          <a:bodyPr wrap="square">
            <a:spAutoFit/>
          </a:bodyPr>
          <a:lstStyle/>
          <a:p>
            <a:pPr algn="l"/>
            <a:r>
              <a:rPr sz="2200" b="0" i="0">
                <a:solidFill>
                  <a:srgbClr val="FFFFFF"/>
                </a:solidFill>
              </a:rPr>
              <a:t>🌐</a:t>
            </a:r>
          </a:p>
        </p:txBody>
      </p:sp>
      <p:sp>
        <p:nvSpPr>
          <p:cNvPr id="16" name="TextBox 15"/>
          <p:cNvSpPr txBox="1"/>
          <p:nvPr/>
        </p:nvSpPr>
        <p:spPr>
          <a:xfrm>
            <a:off x="1417320" y="5129784"/>
            <a:ext cx="4297680" cy="457200"/>
          </a:xfrm>
          <a:prstGeom prst="rect">
            <a:avLst/>
          </a:prstGeom>
          <a:noFill/>
        </p:spPr>
        <p:txBody>
          <a:bodyPr wrap="square">
            <a:spAutoFit/>
          </a:bodyPr>
          <a:lstStyle/>
          <a:p>
            <a:pPr algn="l"/>
            <a:r>
              <a:rPr sz="1700" b="0" i="0">
                <a:solidFill>
                  <a:srgbClr val="FFFFFF"/>
                </a:solidFill>
              </a:rPr>
              <a:t>Full-stack web development</a:t>
            </a:r>
          </a:p>
        </p:txBody>
      </p:sp>
      <p:sp>
        <p:nvSpPr>
          <p:cNvPr id="17" name="TextBox 16"/>
          <p:cNvSpPr txBox="1"/>
          <p:nvPr/>
        </p:nvSpPr>
        <p:spPr>
          <a:xfrm>
            <a:off x="6446520" y="1353312"/>
            <a:ext cx="5212080" cy="475488"/>
          </a:xfrm>
          <a:prstGeom prst="rect">
            <a:avLst/>
          </a:prstGeom>
          <a:noFill/>
        </p:spPr>
        <p:txBody>
          <a:bodyPr wrap="square">
            <a:spAutoFit/>
          </a:bodyPr>
          <a:lstStyle/>
          <a:p>
            <a:pPr algn="l"/>
            <a:r>
              <a:rPr sz="1900" b="1" i="0">
                <a:solidFill>
                  <a:srgbClr val="6AC8A0"/>
                </a:solidFill>
              </a:rPr>
              <a:t>Portfolio Value</a:t>
            </a:r>
          </a:p>
        </p:txBody>
      </p:sp>
      <p:sp>
        <p:nvSpPr>
          <p:cNvPr id="18" name="Rectangle 17"/>
          <p:cNvSpPr/>
          <p:nvPr/>
        </p:nvSpPr>
        <p:spPr>
          <a:xfrm>
            <a:off x="6446520" y="1874519"/>
            <a:ext cx="5257800"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1968" y="2002535"/>
            <a:ext cx="457200" cy="548640"/>
          </a:xfrm>
          <a:prstGeom prst="rect">
            <a:avLst/>
          </a:prstGeom>
          <a:noFill/>
        </p:spPr>
        <p:txBody>
          <a:bodyPr wrap="square">
            <a:spAutoFit/>
          </a:bodyPr>
          <a:lstStyle/>
          <a:p>
            <a:pPr algn="l"/>
            <a:r>
              <a:rPr sz="2200" b="0" i="0">
                <a:solidFill>
                  <a:srgbClr val="FFFFFF"/>
                </a:solidFill>
              </a:rPr>
              <a:t>🛠️</a:t>
            </a:r>
          </a:p>
        </p:txBody>
      </p:sp>
      <p:sp>
        <p:nvSpPr>
          <p:cNvPr id="20" name="TextBox 19"/>
          <p:cNvSpPr txBox="1"/>
          <p:nvPr/>
        </p:nvSpPr>
        <p:spPr>
          <a:xfrm>
            <a:off x="7223760" y="2057399"/>
            <a:ext cx="4297680" cy="457200"/>
          </a:xfrm>
          <a:prstGeom prst="rect">
            <a:avLst/>
          </a:prstGeom>
          <a:noFill/>
        </p:spPr>
        <p:txBody>
          <a:bodyPr wrap="square">
            <a:spAutoFit/>
          </a:bodyPr>
          <a:lstStyle/>
          <a:p>
            <a:pPr algn="l"/>
            <a:r>
              <a:rPr sz="1700" b="0" i="0">
                <a:solidFill>
                  <a:srgbClr val="FFFFFF"/>
                </a:solidFill>
              </a:rPr>
              <a:t>A working tool used by real researchers</a:t>
            </a:r>
          </a:p>
        </p:txBody>
      </p:sp>
      <p:sp>
        <p:nvSpPr>
          <p:cNvPr id="21" name="Rectangle 20"/>
          <p:cNvSpPr/>
          <p:nvPr/>
        </p:nvSpPr>
        <p:spPr>
          <a:xfrm>
            <a:off x="6446520" y="2898648"/>
            <a:ext cx="5257800"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1968" y="3026664"/>
            <a:ext cx="457200" cy="548640"/>
          </a:xfrm>
          <a:prstGeom prst="rect">
            <a:avLst/>
          </a:prstGeom>
          <a:noFill/>
        </p:spPr>
        <p:txBody>
          <a:bodyPr wrap="square">
            <a:spAutoFit/>
          </a:bodyPr>
          <a:lstStyle/>
          <a:p>
            <a:pPr algn="l"/>
            <a:r>
              <a:rPr sz="2200" b="0" i="0">
                <a:solidFill>
                  <a:srgbClr val="FFFFFF"/>
                </a:solidFill>
              </a:rPr>
              <a:t>📄</a:t>
            </a:r>
          </a:p>
        </p:txBody>
      </p:sp>
      <p:sp>
        <p:nvSpPr>
          <p:cNvPr id="23" name="TextBox 22"/>
          <p:cNvSpPr txBox="1"/>
          <p:nvPr/>
        </p:nvSpPr>
        <p:spPr>
          <a:xfrm>
            <a:off x="7223760" y="3081528"/>
            <a:ext cx="4297680" cy="457200"/>
          </a:xfrm>
          <a:prstGeom prst="rect">
            <a:avLst/>
          </a:prstGeom>
          <a:noFill/>
        </p:spPr>
        <p:txBody>
          <a:bodyPr wrap="square">
            <a:spAutoFit/>
          </a:bodyPr>
          <a:lstStyle/>
          <a:p>
            <a:pPr algn="l"/>
            <a:r>
              <a:rPr sz="1700" b="0" i="0">
                <a:solidFill>
                  <a:srgbClr val="FFFFFF"/>
                </a:solidFill>
              </a:rPr>
              <a:t>A benchmarking study (potentially publishable)</a:t>
            </a:r>
          </a:p>
        </p:txBody>
      </p:sp>
      <p:sp>
        <p:nvSpPr>
          <p:cNvPr id="24" name="Rectangle 23"/>
          <p:cNvSpPr/>
          <p:nvPr/>
        </p:nvSpPr>
        <p:spPr>
          <a:xfrm>
            <a:off x="6446520" y="3922776"/>
            <a:ext cx="5257800"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1968" y="4050792"/>
            <a:ext cx="457200" cy="548640"/>
          </a:xfrm>
          <a:prstGeom prst="rect">
            <a:avLst/>
          </a:prstGeom>
          <a:noFill/>
        </p:spPr>
        <p:txBody>
          <a:bodyPr wrap="square">
            <a:spAutoFit/>
          </a:bodyPr>
          <a:lstStyle/>
          <a:p>
            <a:pPr algn="l"/>
            <a:r>
              <a:rPr sz="2200" b="0" i="0">
                <a:solidFill>
                  <a:srgbClr val="FFFFFF"/>
                </a:solidFill>
              </a:rPr>
              <a:t>💻</a:t>
            </a:r>
          </a:p>
        </p:txBody>
      </p:sp>
      <p:sp>
        <p:nvSpPr>
          <p:cNvPr id="26" name="TextBox 25"/>
          <p:cNvSpPr txBox="1"/>
          <p:nvPr/>
        </p:nvSpPr>
        <p:spPr>
          <a:xfrm>
            <a:off x="7223760" y="4105656"/>
            <a:ext cx="4297680" cy="457200"/>
          </a:xfrm>
          <a:prstGeom prst="rect">
            <a:avLst/>
          </a:prstGeom>
          <a:noFill/>
        </p:spPr>
        <p:txBody>
          <a:bodyPr wrap="square">
            <a:spAutoFit/>
          </a:bodyPr>
          <a:lstStyle/>
          <a:p>
            <a:pPr algn="l"/>
            <a:r>
              <a:rPr sz="1700" b="0" i="0">
                <a:solidFill>
                  <a:srgbClr val="FFFFFF"/>
                </a:solidFill>
              </a:rPr>
              <a:t>An open-source contribution</a:t>
            </a:r>
          </a:p>
        </p:txBody>
      </p:sp>
      <p:sp>
        <p:nvSpPr>
          <p:cNvPr id="27" name="Rectangle 26"/>
          <p:cNvSpPr/>
          <p:nvPr/>
        </p:nvSpPr>
        <p:spPr>
          <a:xfrm>
            <a:off x="6446520" y="4946904"/>
            <a:ext cx="5257800" cy="822960"/>
          </a:xfrm>
          <a:prstGeom prst="rect">
            <a:avLst/>
          </a:prstGeom>
          <a:solidFill>
            <a:srgbClr val="25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1968" y="5074920"/>
            <a:ext cx="457200" cy="548640"/>
          </a:xfrm>
          <a:prstGeom prst="rect">
            <a:avLst/>
          </a:prstGeom>
          <a:noFill/>
        </p:spPr>
        <p:txBody>
          <a:bodyPr wrap="square">
            <a:spAutoFit/>
          </a:bodyPr>
          <a:lstStyle/>
          <a:p>
            <a:pPr algn="l"/>
            <a:r>
              <a:rPr sz="2200" b="0" i="0">
                <a:solidFill>
                  <a:srgbClr val="FFFFFF"/>
                </a:solidFill>
              </a:rPr>
              <a:t>🤝</a:t>
            </a:r>
          </a:p>
        </p:txBody>
      </p:sp>
      <p:sp>
        <p:nvSpPr>
          <p:cNvPr id="29" name="TextBox 28"/>
          <p:cNvSpPr txBox="1"/>
          <p:nvPr/>
        </p:nvSpPr>
        <p:spPr>
          <a:xfrm>
            <a:off x="7223760" y="5129784"/>
            <a:ext cx="4297680" cy="457200"/>
          </a:xfrm>
          <a:prstGeom prst="rect">
            <a:avLst/>
          </a:prstGeom>
          <a:noFill/>
        </p:spPr>
        <p:txBody>
          <a:bodyPr wrap="square">
            <a:spAutoFit/>
          </a:bodyPr>
          <a:lstStyle/>
          <a:p>
            <a:pPr algn="l"/>
            <a:r>
              <a:rPr sz="1700" b="0" i="0">
                <a:solidFill>
                  <a:srgbClr val="FFFFFF"/>
                </a:solidFill>
              </a:rPr>
              <a:t>Interdisciplinary collaboration experience</a:t>
            </a:r>
          </a:p>
        </p:txBody>
      </p:sp>
      <p:sp>
        <p:nvSpPr>
          <p:cNvPr id="30" name="TextBox 29"/>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F3C"/>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D1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0"/>
            <a:ext cx="10881360" cy="1325880"/>
          </a:xfrm>
          <a:prstGeom prst="rect">
            <a:avLst/>
          </a:prstGeom>
          <a:noFill/>
        </p:spPr>
        <p:txBody>
          <a:bodyPr wrap="square">
            <a:spAutoFit/>
          </a:bodyPr>
          <a:lstStyle/>
          <a:p>
            <a:pPr algn="ctr"/>
            <a:r>
              <a:rPr sz="5000" b="1" i="0">
                <a:solidFill>
                  <a:srgbClr val="E8A830"/>
                </a:solidFill>
              </a:rPr>
              <a:t>What would you build first?</a:t>
            </a:r>
          </a:p>
        </p:txBody>
      </p:sp>
      <p:sp>
        <p:nvSpPr>
          <p:cNvPr id="4" name="Rectangle 3"/>
          <p:cNvSpPr/>
          <p:nvPr/>
        </p:nvSpPr>
        <p:spPr>
          <a:xfrm>
            <a:off x="2286000" y="3456432"/>
            <a:ext cx="7589520" cy="54864"/>
          </a:xfrm>
          <a:prstGeom prst="rect">
            <a:avLst/>
          </a:prstGeom>
          <a:solidFill>
            <a:srgbClr val="E8A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657600"/>
            <a:ext cx="10881360" cy="621792"/>
          </a:xfrm>
          <a:prstGeom prst="rect">
            <a:avLst/>
          </a:prstGeom>
          <a:noFill/>
        </p:spPr>
        <p:txBody>
          <a:bodyPr wrap="square">
            <a:spAutoFit/>
          </a:bodyPr>
          <a:lstStyle/>
          <a:p>
            <a:pPr algn="ctr"/>
            <a:r>
              <a:rPr sz="2600" b="0" i="0">
                <a:solidFill>
                  <a:srgbClr val="D4D8E8"/>
                </a:solidFill>
              </a:rPr>
              <a:t>Questions &amp; Discussion</a:t>
            </a:r>
          </a:p>
        </p:txBody>
      </p:sp>
      <p:sp>
        <p:nvSpPr>
          <p:cNvPr id="6" name="TextBox 5"/>
          <p:cNvSpPr txBox="1"/>
          <p:nvPr/>
        </p:nvSpPr>
        <p:spPr>
          <a:xfrm>
            <a:off x="640080" y="5394960"/>
            <a:ext cx="10881360" cy="457200"/>
          </a:xfrm>
          <a:prstGeom prst="rect">
            <a:avLst/>
          </a:prstGeom>
          <a:noFill/>
        </p:spPr>
        <p:txBody>
          <a:bodyPr wrap="square">
            <a:spAutoFit/>
          </a:bodyPr>
          <a:lstStyle/>
          <a:p>
            <a:pPr algn="ctr"/>
            <a:r>
              <a:rPr sz="1600" b="0" i="0">
                <a:solidFill>
                  <a:srgbClr val="8A92B8"/>
                </a:solidFill>
              </a:rPr>
              <a:t>[your name  ·  your email  ·  office hours]</a:t>
            </a:r>
          </a:p>
        </p:txBody>
      </p:sp>
      <p:sp>
        <p:nvSpPr>
          <p:cNvPr id="7" name="TextBox 6"/>
          <p:cNvSpPr txBox="1"/>
          <p:nvPr/>
        </p:nvSpPr>
        <p:spPr>
          <a:xfrm>
            <a:off x="10789920" y="6492240"/>
            <a:ext cx="1280160" cy="274320"/>
          </a:xfrm>
          <a:prstGeom prst="rect">
            <a:avLst/>
          </a:prstGeom>
          <a:noFill/>
        </p:spPr>
        <p:txBody>
          <a:bodyPr wrap="square">
            <a:spAutoFit/>
          </a:bodyPr>
          <a:lstStyle/>
          <a:p>
            <a:pPr algn="r"/>
            <a:r>
              <a:rPr sz="1100" b="0" i="0">
                <a:solidFill>
                  <a:srgbClr val="8A92B8"/>
                </a:solidFil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